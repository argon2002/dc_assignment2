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61" r:id="rId2"/>
    <p:sldId id="257" r:id="rId3"/>
    <p:sldId id="263" r:id="rId4"/>
    <p:sldId id="264" r:id="rId5"/>
    <p:sldId id="266" r:id="rId6"/>
    <p:sldId id="267" r:id="rId7"/>
    <p:sldId id="268" r:id="rId8"/>
    <p:sldId id="269" r:id="rId9"/>
    <p:sldId id="270" r:id="rId10"/>
    <p:sldId id="271" r:id="rId11"/>
    <p:sldId id="272" r:id="rId12"/>
    <p:sldId id="273" r:id="rId13"/>
    <p:sldId id="274" r:id="rId14"/>
    <p:sldId id="275" r:id="rId15"/>
    <p:sldId id="278" r:id="rId16"/>
    <p:sldId id="279" r:id="rId17"/>
    <p:sldId id="282" r:id="rId18"/>
    <p:sldId id="262" r:id="rId19"/>
    <p:sldId id="265"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6" autoAdjust="0"/>
  </p:normalViewPr>
  <p:slideViewPr>
    <p:cSldViewPr snapToGrid="0">
      <p:cViewPr varScale="1">
        <p:scale>
          <a:sx n="78" d="100"/>
          <a:sy n="78" d="100"/>
        </p:scale>
        <p:origin x="878" y="43"/>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2/4/2026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198030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2/4/2026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2/4/2026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2/4/2026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2/4/2026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2/4/2026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2/4/2026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2/4/2026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2/4/2026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2/4/2026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rgon2002/DC_Assignment2.git"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Assignment 2</a:t>
            </a:r>
          </a:p>
        </p:txBody>
      </p:sp>
      <p:sp>
        <p:nvSpPr>
          <p:cNvPr id="3" name="Subtitle 2"/>
          <p:cNvSpPr>
            <a:spLocks noGrp="1"/>
          </p:cNvSpPr>
          <p:nvPr>
            <p:ph type="subTitle" idx="1"/>
          </p:nvPr>
        </p:nvSpPr>
        <p:spPr/>
        <p:txBody>
          <a:bodyPr>
            <a:normAutofit fontScale="92500"/>
          </a:bodyPr>
          <a:lstStyle/>
          <a:p>
            <a:r>
              <a:rPr lang="en-US" dirty="0"/>
              <a:t>Distributed Computing – Mohammad Hossein Mahrooghi – </a:t>
            </a:r>
            <a:r>
              <a:rPr lang="en-US" dirty="0" err="1"/>
              <a:t>Universita</a:t>
            </a:r>
            <a:r>
              <a:rPr lang="en-US" dirty="0"/>
              <a:t> di Genova 2026</a:t>
            </a:r>
          </a:p>
          <a:p>
            <a:endParaRPr lang="en-US"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096" y="558311"/>
            <a:ext cx="9601200" cy="702341"/>
          </a:xfrm>
        </p:spPr>
        <p:txBody>
          <a:bodyPr/>
          <a:lstStyle/>
          <a:p>
            <a:r>
              <a:rPr lang="en-US" dirty="0"/>
              <a:t>Introduction</a:t>
            </a:r>
          </a:p>
        </p:txBody>
      </p:sp>
      <p:sp>
        <p:nvSpPr>
          <p:cNvPr id="3" name="Content Placeholder 2"/>
          <p:cNvSpPr>
            <a:spLocks noGrp="1"/>
          </p:cNvSpPr>
          <p:nvPr>
            <p:ph idx="1"/>
          </p:nvPr>
        </p:nvSpPr>
        <p:spPr>
          <a:xfrm>
            <a:off x="1020096" y="1710814"/>
            <a:ext cx="9876504" cy="4237704"/>
          </a:xfrm>
        </p:spPr>
        <p:txBody>
          <a:bodyPr>
            <a:normAutofit/>
          </a:bodyPr>
          <a:lstStyle/>
          <a:p>
            <a:pPr>
              <a:lnSpc>
                <a:spcPct val="150000"/>
              </a:lnSpc>
            </a:pPr>
            <a:r>
              <a:rPr lang="en-US" sz="1400" dirty="0"/>
              <a:t>In this assignment, we study a peer-to-peer backup system based on erasure coding, using a discrete-event simulator.</a:t>
            </a:r>
          </a:p>
          <a:p>
            <a:pPr>
              <a:lnSpc>
                <a:spcPct val="150000"/>
              </a:lnSpc>
            </a:pPr>
            <a:r>
              <a:rPr lang="en-US" sz="1400" dirty="0"/>
              <a:t>The goal of the simulation is to evaluate the long-term reliability of data storage in a distributed peer-to-peer environment, where nodes frequently connect and disconnect, and may permanently fail, losing all locally stored data.</a:t>
            </a:r>
          </a:p>
          <a:p>
            <a:pPr>
              <a:lnSpc>
                <a:spcPct val="150000"/>
              </a:lnSpc>
            </a:pPr>
            <a:r>
              <a:rPr lang="en-US" sz="1400" dirty="0"/>
              <a:t>Each node encodes its data into multiple blocks using erasure coding and stores the encoded blocks on other peers.</a:t>
            </a:r>
          </a:p>
          <a:p>
            <a:pPr>
              <a:lnSpc>
                <a:spcPct val="150000"/>
              </a:lnSpc>
            </a:pPr>
            <a:r>
              <a:rPr lang="en-US" sz="1400" dirty="0"/>
              <a:t>A node can recover its entire data as long as at least k encoded blocks remain available somewhere in the network.</a:t>
            </a:r>
          </a:p>
          <a:p>
            <a:pPr>
              <a:lnSpc>
                <a:spcPct val="150000"/>
              </a:lnSpc>
            </a:pPr>
            <a:r>
              <a:rPr lang="en-US" sz="1400" dirty="0"/>
              <a:t>By simulating very long time spans, we investigate whether data remains available under different system configurations, and to what extent data loss occurs. We evaluate different deployment scenarios and study how system parameters affect data durability.</a:t>
            </a:r>
            <a:endParaRPr lang="fa-IR" sz="1400" dirty="0"/>
          </a:p>
          <a:p>
            <a:pPr marL="0" indent="0">
              <a:lnSpc>
                <a:spcPct val="150000"/>
              </a:lnSpc>
              <a:buNone/>
            </a:pPr>
            <a:r>
              <a:rPr lang="en-US" sz="1400" i="1" dirty="0"/>
              <a:t>Implementation details and execution parameters are reported in the Appendix.</a:t>
            </a:r>
            <a:endParaRPr lang="en-US" sz="1400" dirty="0"/>
          </a:p>
          <a:p>
            <a:pPr>
              <a:lnSpc>
                <a:spcPct val="150000"/>
              </a:lnSpc>
            </a:pPr>
            <a:endParaRPr lang="en-US" sz="1400"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E57D507-4E42-948D-CC8F-2C54ADAF9F6B}"/>
              </a:ext>
            </a:extLst>
          </p:cNvPr>
          <p:cNvSpPr txBox="1">
            <a:spLocks/>
          </p:cNvSpPr>
          <p:nvPr/>
        </p:nvSpPr>
        <p:spPr>
          <a:xfrm>
            <a:off x="589935" y="1978792"/>
            <a:ext cx="10579511" cy="4345858"/>
          </a:xfrm>
          <a:prstGeom prst="rect">
            <a:avLst/>
          </a:prstGeom>
        </p:spPr>
        <p:txBody>
          <a:bodyPr>
            <a:normAutofit lnSpcReduction="10000"/>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150000"/>
              </a:lnSpc>
            </a:pPr>
            <a:r>
              <a:rPr lang="en-US" sz="1400" dirty="0"/>
              <a:t>The simulator models a peer-to-peer backup system composed of multiple nodes.</a:t>
            </a:r>
          </a:p>
          <a:p>
            <a:pPr>
              <a:lnSpc>
                <a:spcPct val="150000"/>
              </a:lnSpc>
            </a:pPr>
            <a:r>
              <a:rPr lang="en-US" sz="1400" dirty="0"/>
              <a:t>Each node:</a:t>
            </a:r>
          </a:p>
          <a:p>
            <a:pPr lvl="1">
              <a:lnSpc>
                <a:spcPct val="150000"/>
              </a:lnSpc>
              <a:buFont typeface="Courier New" panose="02070309020205020404" pitchFamily="49" charset="0"/>
              <a:buChar char="o"/>
            </a:pPr>
            <a:r>
              <a:rPr lang="en-US" sz="1200" dirty="0"/>
              <a:t>owns some data to back up</a:t>
            </a:r>
          </a:p>
          <a:p>
            <a:pPr lvl="1">
              <a:lnSpc>
                <a:spcPct val="150000"/>
              </a:lnSpc>
              <a:buFont typeface="Courier New" panose="02070309020205020404" pitchFamily="49" charset="0"/>
              <a:buChar char="o"/>
            </a:pPr>
            <a:r>
              <a:rPr lang="en-US" sz="1200" dirty="0"/>
              <a:t>encodes its data into n blocks using erasure coding</a:t>
            </a:r>
          </a:p>
          <a:p>
            <a:pPr lvl="1">
              <a:lnSpc>
                <a:spcPct val="150000"/>
              </a:lnSpc>
              <a:buFont typeface="Courier New" panose="02070309020205020404" pitchFamily="49" charset="0"/>
              <a:buChar char="o"/>
            </a:pPr>
            <a:r>
              <a:rPr lang="en-US" sz="1200" dirty="0"/>
              <a:t>can recover its data as long as at least k blocks are available in the system ( k/n)</a:t>
            </a:r>
          </a:p>
          <a:p>
            <a:pPr>
              <a:lnSpc>
                <a:spcPct val="150000"/>
              </a:lnSpc>
            </a:pPr>
            <a:endParaRPr lang="en-US" sz="1400" dirty="0"/>
          </a:p>
          <a:p>
            <a:pPr>
              <a:lnSpc>
                <a:spcPct val="150000"/>
              </a:lnSpc>
            </a:pPr>
            <a:r>
              <a:rPr lang="en-US" sz="1400" dirty="0"/>
              <a:t>Nodes frequently go online and offline.</a:t>
            </a:r>
          </a:p>
          <a:p>
            <a:pPr>
              <a:lnSpc>
                <a:spcPct val="150000"/>
              </a:lnSpc>
            </a:pPr>
            <a:r>
              <a:rPr lang="en-US" sz="1400" dirty="0"/>
              <a:t>Nodes may also permanently fail, losing all locally stored data.</a:t>
            </a:r>
          </a:p>
          <a:p>
            <a:pPr>
              <a:lnSpc>
                <a:spcPct val="150000"/>
              </a:lnSpc>
            </a:pPr>
            <a:r>
              <a:rPr lang="en-US" sz="1400" dirty="0"/>
              <a:t>After a failure, nodes attempt to recover their data by downloading blocks from other peers in the network.</a:t>
            </a:r>
          </a:p>
        </p:txBody>
      </p:sp>
      <p:sp>
        <p:nvSpPr>
          <p:cNvPr id="3" name="Title 1">
            <a:extLst>
              <a:ext uri="{FF2B5EF4-FFF2-40B4-BE49-F238E27FC236}">
                <a16:creationId xmlns:a16="http://schemas.microsoft.com/office/drawing/2014/main" id="{15F5EABF-646F-53DE-3115-406451E2D842}"/>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System Model and Simulation Overview</a:t>
            </a:r>
          </a:p>
        </p:txBody>
      </p:sp>
    </p:spTree>
    <p:extLst>
      <p:ext uri="{BB962C8B-B14F-4D97-AF65-F5344CB8AC3E}">
        <p14:creationId xmlns:p14="http://schemas.microsoft.com/office/powerpoint/2010/main" val="366984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53A39DE-3658-5967-C9C9-43D45AB121E1}"/>
              </a:ext>
            </a:extLst>
          </p:cNvPr>
          <p:cNvSpPr txBox="1">
            <a:spLocks/>
          </p:cNvSpPr>
          <p:nvPr/>
        </p:nvSpPr>
        <p:spPr>
          <a:xfrm>
            <a:off x="589935" y="2440908"/>
            <a:ext cx="10579511" cy="4345858"/>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r>
              <a:rPr lang="en-US" sz="1400" dirty="0"/>
              <a:t>The simulator is used to model very long time periods (e.g., several decades or up to 100 years) in order to evaluate long-term data durability.</a:t>
            </a:r>
          </a:p>
          <a:p>
            <a:pPr>
              <a:lnSpc>
                <a:spcPct val="200000"/>
              </a:lnSpc>
            </a:pPr>
            <a:r>
              <a:rPr lang="en-US" sz="1400" dirty="0"/>
              <a:t>Multiple simulation runs are performed for each configuration to obtain statistically meaningful results.</a:t>
            </a:r>
          </a:p>
          <a:p>
            <a:pPr>
              <a:lnSpc>
                <a:spcPct val="200000"/>
              </a:lnSpc>
            </a:pPr>
            <a:r>
              <a:rPr lang="en-US" sz="1400" dirty="0"/>
              <a:t>Two main configurations are considered:</a:t>
            </a:r>
          </a:p>
          <a:p>
            <a:pPr lvl="1">
              <a:lnSpc>
                <a:spcPct val="200000"/>
              </a:lnSpc>
              <a:buFont typeface="Courier New" panose="02070309020205020404" pitchFamily="49" charset="0"/>
              <a:buChar char="o"/>
            </a:pPr>
            <a:r>
              <a:rPr lang="en-US" sz="1200" dirty="0"/>
              <a:t>p2p.cfg: a fully peer-to-peer system where all nodes have similar roles</a:t>
            </a:r>
          </a:p>
          <a:p>
            <a:pPr lvl="1">
              <a:lnSpc>
                <a:spcPct val="200000"/>
              </a:lnSpc>
              <a:buFont typeface="Courier New" panose="02070309020205020404" pitchFamily="49" charset="0"/>
              <a:buChar char="o"/>
            </a:pPr>
            <a:r>
              <a:rPr lang="en-US" sz="1200" dirty="0" err="1"/>
              <a:t>client_server.cfg</a:t>
            </a:r>
            <a:r>
              <a:rPr lang="en-US" sz="1200" dirty="0"/>
              <a:t>: a client–server–like system where some nodes provide storage but do not own data</a:t>
            </a:r>
          </a:p>
        </p:txBody>
      </p:sp>
      <p:sp>
        <p:nvSpPr>
          <p:cNvPr id="3" name="Title 1">
            <a:extLst>
              <a:ext uri="{FF2B5EF4-FFF2-40B4-BE49-F238E27FC236}">
                <a16:creationId xmlns:a16="http://schemas.microsoft.com/office/drawing/2014/main" id="{1510F45D-EA3E-F818-6FA8-CEA3F8AA0881}"/>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Simulation Setup and Configurations</a:t>
            </a:r>
          </a:p>
        </p:txBody>
      </p:sp>
    </p:spTree>
    <p:extLst>
      <p:ext uri="{BB962C8B-B14F-4D97-AF65-F5344CB8AC3E}">
        <p14:creationId xmlns:p14="http://schemas.microsoft.com/office/powerpoint/2010/main" val="392212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34B6A25-CABA-A274-0C54-1AD3982BB002}"/>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P2P Results </a:t>
            </a:r>
            <a:r>
              <a:rPr lang="en-US" sz="2400" dirty="0"/>
              <a:t>–</a:t>
            </a:r>
            <a:r>
              <a:rPr lang="en-US" dirty="0"/>
              <a:t> </a:t>
            </a:r>
            <a:r>
              <a:rPr lang="en-US" sz="2400" dirty="0"/>
              <a:t>Effect of the Recovery Threshold k</a:t>
            </a:r>
          </a:p>
          <a:p>
            <a:endParaRPr lang="en-US" dirty="0"/>
          </a:p>
        </p:txBody>
      </p:sp>
      <p:pic>
        <p:nvPicPr>
          <p:cNvPr id="9" name="Picture 8">
            <a:extLst>
              <a:ext uri="{FF2B5EF4-FFF2-40B4-BE49-F238E27FC236}">
                <a16:creationId xmlns:a16="http://schemas.microsoft.com/office/drawing/2014/main" id="{9FDC6D85-1E88-67DA-BC07-894369DD02EF}"/>
              </a:ext>
            </a:extLst>
          </p:cNvPr>
          <p:cNvPicPr>
            <a:picLocks noChangeAspect="1"/>
          </p:cNvPicPr>
          <p:nvPr/>
        </p:nvPicPr>
        <p:blipFill>
          <a:blip r:embed="rId2"/>
          <a:stretch>
            <a:fillRect/>
          </a:stretch>
        </p:blipFill>
        <p:spPr>
          <a:xfrm>
            <a:off x="4695631" y="2133880"/>
            <a:ext cx="2800741" cy="1219370"/>
          </a:xfrm>
          <a:prstGeom prst="rect">
            <a:avLst/>
          </a:prstGeom>
        </p:spPr>
      </p:pic>
      <p:pic>
        <p:nvPicPr>
          <p:cNvPr id="11" name="Picture 10">
            <a:extLst>
              <a:ext uri="{FF2B5EF4-FFF2-40B4-BE49-F238E27FC236}">
                <a16:creationId xmlns:a16="http://schemas.microsoft.com/office/drawing/2014/main" id="{127E2F9F-65CD-9FE5-EC49-97C22182C3BA}"/>
              </a:ext>
            </a:extLst>
          </p:cNvPr>
          <p:cNvPicPr>
            <a:picLocks noChangeAspect="1"/>
          </p:cNvPicPr>
          <p:nvPr/>
        </p:nvPicPr>
        <p:blipFill>
          <a:blip r:embed="rId3"/>
          <a:stretch>
            <a:fillRect/>
          </a:stretch>
        </p:blipFill>
        <p:spPr>
          <a:xfrm>
            <a:off x="1238867" y="2133880"/>
            <a:ext cx="2772162" cy="1219370"/>
          </a:xfrm>
          <a:prstGeom prst="rect">
            <a:avLst/>
          </a:prstGeom>
        </p:spPr>
      </p:pic>
      <p:pic>
        <p:nvPicPr>
          <p:cNvPr id="13" name="Picture 12">
            <a:extLst>
              <a:ext uri="{FF2B5EF4-FFF2-40B4-BE49-F238E27FC236}">
                <a16:creationId xmlns:a16="http://schemas.microsoft.com/office/drawing/2014/main" id="{E4610925-35BA-7D83-1F50-1A0F9F443DC9}"/>
              </a:ext>
            </a:extLst>
          </p:cNvPr>
          <p:cNvPicPr>
            <a:picLocks noChangeAspect="1"/>
          </p:cNvPicPr>
          <p:nvPr/>
        </p:nvPicPr>
        <p:blipFill>
          <a:blip r:embed="rId4"/>
          <a:stretch>
            <a:fillRect/>
          </a:stretch>
        </p:blipFill>
        <p:spPr>
          <a:xfrm>
            <a:off x="8180974" y="2114827"/>
            <a:ext cx="2819794" cy="1238423"/>
          </a:xfrm>
          <a:prstGeom prst="rect">
            <a:avLst/>
          </a:prstGeom>
        </p:spPr>
      </p:pic>
      <p:sp>
        <p:nvSpPr>
          <p:cNvPr id="15" name="TextBox 14">
            <a:extLst>
              <a:ext uri="{FF2B5EF4-FFF2-40B4-BE49-F238E27FC236}">
                <a16:creationId xmlns:a16="http://schemas.microsoft.com/office/drawing/2014/main" id="{3CA60324-9787-0C91-F9EC-59D485419966}"/>
              </a:ext>
            </a:extLst>
          </p:cNvPr>
          <p:cNvSpPr txBox="1"/>
          <p:nvPr/>
        </p:nvSpPr>
        <p:spPr>
          <a:xfrm>
            <a:off x="1312605" y="3673562"/>
            <a:ext cx="2374491" cy="338554"/>
          </a:xfrm>
          <a:prstGeom prst="rect">
            <a:avLst/>
          </a:prstGeom>
          <a:noFill/>
        </p:spPr>
        <p:txBody>
          <a:bodyPr wrap="square">
            <a:spAutoFit/>
          </a:bodyPr>
          <a:lstStyle/>
          <a:p>
            <a:r>
              <a:rPr lang="en-US" sz="1600" dirty="0"/>
              <a:t>Result for n = 10, k = 6</a:t>
            </a:r>
          </a:p>
        </p:txBody>
      </p:sp>
      <p:sp>
        <p:nvSpPr>
          <p:cNvPr id="16" name="TextBox 15">
            <a:extLst>
              <a:ext uri="{FF2B5EF4-FFF2-40B4-BE49-F238E27FC236}">
                <a16:creationId xmlns:a16="http://schemas.microsoft.com/office/drawing/2014/main" id="{853E7B19-162D-F40F-7411-F9692878F427}"/>
              </a:ext>
            </a:extLst>
          </p:cNvPr>
          <p:cNvSpPr txBox="1"/>
          <p:nvPr/>
        </p:nvSpPr>
        <p:spPr>
          <a:xfrm>
            <a:off x="4908755" y="3664035"/>
            <a:ext cx="2374491" cy="338554"/>
          </a:xfrm>
          <a:prstGeom prst="rect">
            <a:avLst/>
          </a:prstGeom>
          <a:noFill/>
        </p:spPr>
        <p:txBody>
          <a:bodyPr wrap="square">
            <a:spAutoFit/>
          </a:bodyPr>
          <a:lstStyle/>
          <a:p>
            <a:r>
              <a:rPr lang="en-US" sz="1600" dirty="0"/>
              <a:t>Result for n = 10, k = 7</a:t>
            </a:r>
          </a:p>
        </p:txBody>
      </p:sp>
      <p:sp>
        <p:nvSpPr>
          <p:cNvPr id="17" name="TextBox 16">
            <a:extLst>
              <a:ext uri="{FF2B5EF4-FFF2-40B4-BE49-F238E27FC236}">
                <a16:creationId xmlns:a16="http://schemas.microsoft.com/office/drawing/2014/main" id="{F0EDB5BD-01A8-69BE-221F-0F6683982044}"/>
              </a:ext>
            </a:extLst>
          </p:cNvPr>
          <p:cNvSpPr txBox="1"/>
          <p:nvPr/>
        </p:nvSpPr>
        <p:spPr>
          <a:xfrm>
            <a:off x="8504905" y="3673562"/>
            <a:ext cx="2374491" cy="338554"/>
          </a:xfrm>
          <a:prstGeom prst="rect">
            <a:avLst/>
          </a:prstGeom>
          <a:noFill/>
        </p:spPr>
        <p:txBody>
          <a:bodyPr wrap="square">
            <a:spAutoFit/>
          </a:bodyPr>
          <a:lstStyle/>
          <a:p>
            <a:r>
              <a:rPr lang="en-US" sz="1600" dirty="0"/>
              <a:t>Result for n = 10, k = 8</a:t>
            </a:r>
          </a:p>
        </p:txBody>
      </p:sp>
      <p:sp>
        <p:nvSpPr>
          <p:cNvPr id="19" name="TextBox 18">
            <a:extLst>
              <a:ext uri="{FF2B5EF4-FFF2-40B4-BE49-F238E27FC236}">
                <a16:creationId xmlns:a16="http://schemas.microsoft.com/office/drawing/2014/main" id="{7085CC83-61F5-04C3-BB3C-6E2195325F5E}"/>
              </a:ext>
            </a:extLst>
          </p:cNvPr>
          <p:cNvSpPr txBox="1"/>
          <p:nvPr/>
        </p:nvSpPr>
        <p:spPr>
          <a:xfrm>
            <a:off x="1951837" y="4382935"/>
            <a:ext cx="8288326" cy="615553"/>
          </a:xfrm>
          <a:prstGeom prst="rect">
            <a:avLst/>
          </a:prstGeom>
          <a:noFill/>
        </p:spPr>
        <p:txBody>
          <a:bodyPr wrap="square">
            <a:spAutoFit/>
          </a:bodyPr>
          <a:lstStyle/>
          <a:p>
            <a:pPr algn="ctr"/>
            <a:r>
              <a:rPr lang="en-US" sz="1600" dirty="0"/>
              <a:t>Peers = 20, average lifetime = 1 year, data size = 1 GiB, storage size = 10 GiB</a:t>
            </a:r>
          </a:p>
          <a:p>
            <a:endParaRPr lang="en-US" dirty="0"/>
          </a:p>
        </p:txBody>
      </p:sp>
      <p:sp>
        <p:nvSpPr>
          <p:cNvPr id="30" name="TextBox 29">
            <a:extLst>
              <a:ext uri="{FF2B5EF4-FFF2-40B4-BE49-F238E27FC236}">
                <a16:creationId xmlns:a16="http://schemas.microsoft.com/office/drawing/2014/main" id="{5DF9EFFF-9B6C-0CEE-1E9F-CD4AC83BBB1D}"/>
              </a:ext>
            </a:extLst>
          </p:cNvPr>
          <p:cNvSpPr txBox="1"/>
          <p:nvPr/>
        </p:nvSpPr>
        <p:spPr>
          <a:xfrm>
            <a:off x="550604" y="5437581"/>
            <a:ext cx="8539316" cy="1169551"/>
          </a:xfrm>
          <a:prstGeom prst="rect">
            <a:avLst/>
          </a:prstGeom>
          <a:noFill/>
        </p:spPr>
        <p:txBody>
          <a:bodyPr wrap="square">
            <a:spAutoFit/>
          </a:bodyPr>
          <a:lstStyle/>
          <a:p>
            <a:r>
              <a:rPr lang="en-US" sz="1400" dirty="0"/>
              <a:t>Transfers: total number of block transfers performed by the system.</a:t>
            </a:r>
          </a:p>
          <a:p>
            <a:endParaRPr lang="en-US" sz="1400" dirty="0"/>
          </a:p>
          <a:p>
            <a:r>
              <a:rPr lang="en-US" sz="1400" dirty="0"/>
              <a:t>Avg delay: average time required to complete a block transfer.</a:t>
            </a:r>
          </a:p>
          <a:p>
            <a:endParaRPr lang="en-US" sz="1400" dirty="0"/>
          </a:p>
          <a:p>
            <a:r>
              <a:rPr lang="en-US" sz="1400" dirty="0"/>
              <a:t>Max delay: longest block transfer observed during the simulation.</a:t>
            </a:r>
          </a:p>
        </p:txBody>
      </p:sp>
    </p:spTree>
    <p:extLst>
      <p:ext uri="{BB962C8B-B14F-4D97-AF65-F5344CB8AC3E}">
        <p14:creationId xmlns:p14="http://schemas.microsoft.com/office/powerpoint/2010/main" val="48331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9BD9A6-8F2C-08D9-6B09-27EA5CD2371E}"/>
              </a:ext>
            </a:extLst>
          </p:cNvPr>
          <p:cNvSpPr txBox="1">
            <a:spLocks/>
          </p:cNvSpPr>
          <p:nvPr/>
        </p:nvSpPr>
        <p:spPr>
          <a:xfrm>
            <a:off x="589935" y="2440908"/>
            <a:ext cx="10579511" cy="4345858"/>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endParaRPr lang="en-US" sz="1200" dirty="0"/>
          </a:p>
        </p:txBody>
      </p:sp>
      <p:sp>
        <p:nvSpPr>
          <p:cNvPr id="3" name="Title 1">
            <a:extLst>
              <a:ext uri="{FF2B5EF4-FFF2-40B4-BE49-F238E27FC236}">
                <a16:creationId xmlns:a16="http://schemas.microsoft.com/office/drawing/2014/main" id="{254B84B2-81A1-3FAC-34C4-A704D4DF2211}"/>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Interpretation of Experimental Results</a:t>
            </a:r>
          </a:p>
        </p:txBody>
      </p:sp>
      <p:sp>
        <p:nvSpPr>
          <p:cNvPr id="6" name="Content Placeholder 2">
            <a:extLst>
              <a:ext uri="{FF2B5EF4-FFF2-40B4-BE49-F238E27FC236}">
                <a16:creationId xmlns:a16="http://schemas.microsoft.com/office/drawing/2014/main" id="{03EC0886-6BD1-F644-D02A-059744123188}"/>
              </a:ext>
            </a:extLst>
          </p:cNvPr>
          <p:cNvSpPr txBox="1">
            <a:spLocks/>
          </p:cNvSpPr>
          <p:nvPr/>
        </p:nvSpPr>
        <p:spPr>
          <a:xfrm>
            <a:off x="589935" y="1978792"/>
            <a:ext cx="10579511" cy="4345858"/>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r>
              <a:rPr lang="en-US" sz="1400" dirty="0"/>
              <a:t>Increasing the recovery threshold k reduces redundancy, making data recovery progressively more difficult.</a:t>
            </a:r>
          </a:p>
          <a:p>
            <a:pPr>
              <a:lnSpc>
                <a:spcPct val="200000"/>
              </a:lnSpc>
            </a:pPr>
            <a:r>
              <a:rPr lang="en-US" sz="1400" dirty="0"/>
              <a:t>As k increases, the system performs fewer successful recovery operations, and data loss becomes more likely.</a:t>
            </a:r>
          </a:p>
          <a:p>
            <a:pPr>
              <a:lnSpc>
                <a:spcPct val="200000"/>
              </a:lnSpc>
            </a:pPr>
            <a:r>
              <a:rPr lang="en-US" sz="1400" dirty="0"/>
              <a:t>Higher values of k are associated with increased transfer delays: recovery operations take longer, and worst-case delays increase, indicating higher stress on the system before data loss occurs.</a:t>
            </a:r>
          </a:p>
          <a:p>
            <a:pPr>
              <a:lnSpc>
                <a:spcPct val="200000"/>
              </a:lnSpc>
            </a:pPr>
            <a:r>
              <a:rPr lang="en-US" sz="1400" dirty="0"/>
              <a:t>As observed in the results, the average and maximum transfer delays are equal. This happens because all nodes have the same upload and download speeds in this simulation, which leads to the same delay for every transfer.</a:t>
            </a:r>
          </a:p>
          <a:p>
            <a:pPr>
              <a:lnSpc>
                <a:spcPct val="200000"/>
              </a:lnSpc>
            </a:pPr>
            <a:r>
              <a:rPr lang="en-US" sz="1400" dirty="0"/>
              <a:t>Choosing k is a critical design decision in erasure-coded backup systems.</a:t>
            </a:r>
          </a:p>
          <a:p>
            <a:pPr>
              <a:lnSpc>
                <a:spcPct val="200000"/>
              </a:lnSpc>
            </a:pPr>
            <a:endParaRPr lang="en-US" sz="1400" dirty="0"/>
          </a:p>
        </p:txBody>
      </p:sp>
      <p:sp>
        <p:nvSpPr>
          <p:cNvPr id="9" name="Content Placeholder 2">
            <a:extLst>
              <a:ext uri="{FF2B5EF4-FFF2-40B4-BE49-F238E27FC236}">
                <a16:creationId xmlns:a16="http://schemas.microsoft.com/office/drawing/2014/main" id="{5B32E593-166C-78FF-E028-1B4CCFF93683}"/>
              </a:ext>
            </a:extLst>
          </p:cNvPr>
          <p:cNvSpPr txBox="1">
            <a:spLocks/>
          </p:cNvSpPr>
          <p:nvPr/>
        </p:nvSpPr>
        <p:spPr>
          <a:xfrm>
            <a:off x="589935" y="4545011"/>
            <a:ext cx="10579511" cy="4345858"/>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endParaRPr lang="en-US" sz="1400" b="1" dirty="0"/>
          </a:p>
        </p:txBody>
      </p:sp>
    </p:spTree>
    <p:extLst>
      <p:ext uri="{BB962C8B-B14F-4D97-AF65-F5344CB8AC3E}">
        <p14:creationId xmlns:p14="http://schemas.microsoft.com/office/powerpoint/2010/main" val="134712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CC55-1410-B466-3129-979C19ECDA5A}"/>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Client–Server Configuration Results</a:t>
            </a:r>
          </a:p>
        </p:txBody>
      </p:sp>
      <p:sp>
        <p:nvSpPr>
          <p:cNvPr id="17" name="TextBox 16">
            <a:extLst>
              <a:ext uri="{FF2B5EF4-FFF2-40B4-BE49-F238E27FC236}">
                <a16:creationId xmlns:a16="http://schemas.microsoft.com/office/drawing/2014/main" id="{1B848D38-EE4E-94E8-90A3-11E986A95D51}"/>
              </a:ext>
            </a:extLst>
          </p:cNvPr>
          <p:cNvSpPr txBox="1"/>
          <p:nvPr/>
        </p:nvSpPr>
        <p:spPr>
          <a:xfrm>
            <a:off x="1312605" y="4283162"/>
            <a:ext cx="2374491" cy="338554"/>
          </a:xfrm>
          <a:prstGeom prst="rect">
            <a:avLst/>
          </a:prstGeom>
          <a:noFill/>
        </p:spPr>
        <p:txBody>
          <a:bodyPr wrap="square">
            <a:spAutoFit/>
          </a:bodyPr>
          <a:lstStyle/>
          <a:p>
            <a:r>
              <a:rPr lang="en-US" sz="1600" dirty="0"/>
              <a:t>Result for n = 10, k = 6</a:t>
            </a:r>
          </a:p>
        </p:txBody>
      </p:sp>
      <p:sp>
        <p:nvSpPr>
          <p:cNvPr id="18" name="TextBox 17">
            <a:extLst>
              <a:ext uri="{FF2B5EF4-FFF2-40B4-BE49-F238E27FC236}">
                <a16:creationId xmlns:a16="http://schemas.microsoft.com/office/drawing/2014/main" id="{0F9A8633-39EF-98C6-EDF9-F1985F977D59}"/>
              </a:ext>
            </a:extLst>
          </p:cNvPr>
          <p:cNvSpPr txBox="1"/>
          <p:nvPr/>
        </p:nvSpPr>
        <p:spPr>
          <a:xfrm>
            <a:off x="4908755" y="4273635"/>
            <a:ext cx="2374491" cy="338554"/>
          </a:xfrm>
          <a:prstGeom prst="rect">
            <a:avLst/>
          </a:prstGeom>
          <a:noFill/>
        </p:spPr>
        <p:txBody>
          <a:bodyPr wrap="square">
            <a:spAutoFit/>
          </a:bodyPr>
          <a:lstStyle/>
          <a:p>
            <a:r>
              <a:rPr lang="en-US" sz="1600" dirty="0"/>
              <a:t>Result for n = 10, k = 7</a:t>
            </a:r>
          </a:p>
        </p:txBody>
      </p:sp>
      <p:sp>
        <p:nvSpPr>
          <p:cNvPr id="19" name="TextBox 18">
            <a:extLst>
              <a:ext uri="{FF2B5EF4-FFF2-40B4-BE49-F238E27FC236}">
                <a16:creationId xmlns:a16="http://schemas.microsoft.com/office/drawing/2014/main" id="{EE31937A-BA21-F34C-E210-30F801E17869}"/>
              </a:ext>
            </a:extLst>
          </p:cNvPr>
          <p:cNvSpPr txBox="1"/>
          <p:nvPr/>
        </p:nvSpPr>
        <p:spPr>
          <a:xfrm>
            <a:off x="8504905" y="4283162"/>
            <a:ext cx="2374491" cy="338554"/>
          </a:xfrm>
          <a:prstGeom prst="rect">
            <a:avLst/>
          </a:prstGeom>
          <a:noFill/>
        </p:spPr>
        <p:txBody>
          <a:bodyPr wrap="square">
            <a:spAutoFit/>
          </a:bodyPr>
          <a:lstStyle/>
          <a:p>
            <a:r>
              <a:rPr lang="en-US" sz="1600" dirty="0"/>
              <a:t>Result for n = 10, k = 8</a:t>
            </a:r>
          </a:p>
        </p:txBody>
      </p:sp>
      <p:sp>
        <p:nvSpPr>
          <p:cNvPr id="20" name="TextBox 19">
            <a:extLst>
              <a:ext uri="{FF2B5EF4-FFF2-40B4-BE49-F238E27FC236}">
                <a16:creationId xmlns:a16="http://schemas.microsoft.com/office/drawing/2014/main" id="{9B9E41A9-D478-A70C-66C4-5FB401E084CF}"/>
              </a:ext>
            </a:extLst>
          </p:cNvPr>
          <p:cNvSpPr txBox="1"/>
          <p:nvPr/>
        </p:nvSpPr>
        <p:spPr>
          <a:xfrm>
            <a:off x="1018670" y="5042868"/>
            <a:ext cx="10345927" cy="938719"/>
          </a:xfrm>
          <a:prstGeom prst="rect">
            <a:avLst/>
          </a:prstGeom>
          <a:noFill/>
        </p:spPr>
        <p:txBody>
          <a:bodyPr wrap="square">
            <a:spAutoFit/>
          </a:bodyPr>
          <a:lstStyle/>
          <a:p>
            <a:pPr algn="ctr">
              <a:lnSpc>
                <a:spcPct val="150000"/>
              </a:lnSpc>
            </a:pPr>
            <a:r>
              <a:rPr lang="en-US" sz="1400" dirty="0"/>
              <a:t>servers = 10, nodes = 10 average lifetime = 1 year, data size = 1 GiB, nodes storage size = </a:t>
            </a:r>
            <a:r>
              <a:rPr lang="fa-IR" sz="1400" dirty="0"/>
              <a:t>2</a:t>
            </a:r>
            <a:r>
              <a:rPr lang="en-US" sz="1400" dirty="0"/>
              <a:t> GiB, servers storage size = 1 TiB</a:t>
            </a:r>
          </a:p>
          <a:p>
            <a:pPr algn="ctr"/>
            <a:endParaRPr lang="en-US" sz="1600" dirty="0"/>
          </a:p>
          <a:p>
            <a:endParaRPr lang="en-US" dirty="0"/>
          </a:p>
        </p:txBody>
      </p:sp>
      <p:pic>
        <p:nvPicPr>
          <p:cNvPr id="22" name="Picture 21">
            <a:extLst>
              <a:ext uri="{FF2B5EF4-FFF2-40B4-BE49-F238E27FC236}">
                <a16:creationId xmlns:a16="http://schemas.microsoft.com/office/drawing/2014/main" id="{FF0F39CC-8187-BE71-23FC-AED94947C199}"/>
              </a:ext>
            </a:extLst>
          </p:cNvPr>
          <p:cNvPicPr>
            <a:picLocks noChangeAspect="1"/>
          </p:cNvPicPr>
          <p:nvPr/>
        </p:nvPicPr>
        <p:blipFill>
          <a:blip r:embed="rId2"/>
          <a:stretch>
            <a:fillRect/>
          </a:stretch>
        </p:blipFill>
        <p:spPr>
          <a:xfrm>
            <a:off x="1146490" y="2623588"/>
            <a:ext cx="2848373" cy="1247949"/>
          </a:xfrm>
          <a:prstGeom prst="rect">
            <a:avLst/>
          </a:prstGeom>
        </p:spPr>
      </p:pic>
      <p:pic>
        <p:nvPicPr>
          <p:cNvPr id="24" name="Picture 23">
            <a:extLst>
              <a:ext uri="{FF2B5EF4-FFF2-40B4-BE49-F238E27FC236}">
                <a16:creationId xmlns:a16="http://schemas.microsoft.com/office/drawing/2014/main" id="{3BF8C9B8-1454-03B9-4ECB-4C298E092551}"/>
              </a:ext>
            </a:extLst>
          </p:cNvPr>
          <p:cNvPicPr>
            <a:picLocks noChangeAspect="1"/>
          </p:cNvPicPr>
          <p:nvPr/>
        </p:nvPicPr>
        <p:blipFill>
          <a:blip r:embed="rId3"/>
          <a:stretch>
            <a:fillRect/>
          </a:stretch>
        </p:blipFill>
        <p:spPr>
          <a:xfrm>
            <a:off x="4647998" y="2604535"/>
            <a:ext cx="2896004" cy="1267002"/>
          </a:xfrm>
          <a:prstGeom prst="rect">
            <a:avLst/>
          </a:prstGeom>
        </p:spPr>
      </p:pic>
      <p:pic>
        <p:nvPicPr>
          <p:cNvPr id="26" name="Picture 25">
            <a:extLst>
              <a:ext uri="{FF2B5EF4-FFF2-40B4-BE49-F238E27FC236}">
                <a16:creationId xmlns:a16="http://schemas.microsoft.com/office/drawing/2014/main" id="{42C1A78E-59E9-ACEE-11FE-469C2D1C79A5}"/>
              </a:ext>
            </a:extLst>
          </p:cNvPr>
          <p:cNvPicPr>
            <a:picLocks noChangeAspect="1"/>
          </p:cNvPicPr>
          <p:nvPr/>
        </p:nvPicPr>
        <p:blipFill>
          <a:blip r:embed="rId4"/>
          <a:stretch>
            <a:fillRect/>
          </a:stretch>
        </p:blipFill>
        <p:spPr>
          <a:xfrm>
            <a:off x="8197137" y="2604535"/>
            <a:ext cx="2972215" cy="1257475"/>
          </a:xfrm>
          <a:prstGeom prst="rect">
            <a:avLst/>
          </a:prstGeom>
        </p:spPr>
      </p:pic>
    </p:spTree>
    <p:extLst>
      <p:ext uri="{BB962C8B-B14F-4D97-AF65-F5344CB8AC3E}">
        <p14:creationId xmlns:p14="http://schemas.microsoft.com/office/powerpoint/2010/main" val="145454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B8F8829-B091-DF21-8987-9C195DCB469A}"/>
              </a:ext>
            </a:extLst>
          </p:cNvPr>
          <p:cNvSpPr txBox="1">
            <a:spLocks/>
          </p:cNvSpPr>
          <p:nvPr/>
        </p:nvSpPr>
        <p:spPr>
          <a:xfrm>
            <a:off x="422786" y="1310098"/>
            <a:ext cx="10579511" cy="5189025"/>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r>
              <a:rPr lang="en-US" sz="1400" dirty="0"/>
              <a:t>In this configuration, the system consists of two different node classes:  clients (data owners) and servers (storage providers), with different upload/download speeds and stability characteristics.</a:t>
            </a:r>
          </a:p>
          <a:p>
            <a:pPr>
              <a:lnSpc>
                <a:spcPct val="200000"/>
              </a:lnSpc>
            </a:pPr>
            <a:r>
              <a:rPr lang="en-US" sz="1400" dirty="0"/>
              <a:t>In the runs with NO DATA LOSS, data remains available thanks to the presence  of more stable storage servers. However, recovery operations are often  bottlenecked by server-side upload capacity and concurrent downloads, resulting in higher average and maximum transfer delays.</a:t>
            </a:r>
          </a:p>
          <a:p>
            <a:pPr>
              <a:lnSpc>
                <a:spcPct val="200000"/>
              </a:lnSpc>
            </a:pPr>
            <a:r>
              <a:rPr lang="en-US" sz="1400" dirty="0"/>
              <a:t>In the run with DATA LOST, the system performs even more transfers, but recovery ultimately fails because not enough blocks remain available to reach k. This occurs when critical blocks are placed on a small number of storage providers or when stable nodes temporarily or permanently leave the system.</a:t>
            </a:r>
          </a:p>
          <a:p>
            <a:pPr>
              <a:lnSpc>
                <a:spcPct val="200000"/>
              </a:lnSpc>
            </a:pPr>
            <a:r>
              <a:rPr lang="en-US" sz="1400" dirty="0"/>
              <a:t>These results show that data durability depends not only on redundancy (n, k), but also on block placement, node stability, and available upload/download bandwidth.</a:t>
            </a:r>
          </a:p>
        </p:txBody>
      </p:sp>
      <p:sp>
        <p:nvSpPr>
          <p:cNvPr id="5" name="Title 1">
            <a:extLst>
              <a:ext uri="{FF2B5EF4-FFF2-40B4-BE49-F238E27FC236}">
                <a16:creationId xmlns:a16="http://schemas.microsoft.com/office/drawing/2014/main" id="{FE36DBA4-5AF7-DF4C-D16E-8A2B426D077D}"/>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Interpretation (Client–Server Scenario)</a:t>
            </a:r>
          </a:p>
        </p:txBody>
      </p:sp>
    </p:spTree>
    <p:extLst>
      <p:ext uri="{BB962C8B-B14F-4D97-AF65-F5344CB8AC3E}">
        <p14:creationId xmlns:p14="http://schemas.microsoft.com/office/powerpoint/2010/main" val="64739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0E40B6-4679-C4E5-EB89-1CC73A60BC5C}"/>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Simulator Extension </a:t>
            </a:r>
            <a:r>
              <a:rPr lang="en-US" sz="2400" dirty="0"/>
              <a:t>(Upload and Download Noise)</a:t>
            </a:r>
            <a:endParaRPr lang="en-US" sz="2400" dirty="0">
              <a:effectLst/>
            </a:endParaRPr>
          </a:p>
        </p:txBody>
      </p:sp>
      <p:sp>
        <p:nvSpPr>
          <p:cNvPr id="5" name="Content Placeholder 2">
            <a:extLst>
              <a:ext uri="{FF2B5EF4-FFF2-40B4-BE49-F238E27FC236}">
                <a16:creationId xmlns:a16="http://schemas.microsoft.com/office/drawing/2014/main" id="{F4738622-810E-AA36-5245-DABBADDDA965}"/>
              </a:ext>
            </a:extLst>
          </p:cNvPr>
          <p:cNvSpPr txBox="1">
            <a:spLocks/>
          </p:cNvSpPr>
          <p:nvPr/>
        </p:nvSpPr>
        <p:spPr>
          <a:xfrm>
            <a:off x="589935" y="1577413"/>
            <a:ext cx="10579511" cy="5189025"/>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r>
              <a:rPr lang="en-US" sz="1400" dirty="0"/>
              <a:t>In the base simulator, upload and download speeds are constant.</a:t>
            </a:r>
          </a:p>
          <a:p>
            <a:pPr>
              <a:lnSpc>
                <a:spcPct val="200000"/>
              </a:lnSpc>
            </a:pPr>
            <a:r>
              <a:rPr lang="en-US" sz="1400" dirty="0"/>
              <a:t>In real-world systems, network bandwidth fluctuates over time</a:t>
            </a:r>
            <a:r>
              <a:rPr lang="fa-IR" sz="1400" dirty="0"/>
              <a:t> </a:t>
            </a:r>
            <a:r>
              <a:rPr lang="en-US" sz="1400" dirty="0"/>
              <a:t>due to congestion, contention, and external factors.</a:t>
            </a:r>
          </a:p>
          <a:p>
            <a:pPr>
              <a:lnSpc>
                <a:spcPct val="200000"/>
              </a:lnSpc>
            </a:pPr>
            <a:r>
              <a:rPr lang="en-US" sz="1400" dirty="0"/>
              <a:t>This extension introduces noise on upload and download speeds</a:t>
            </a:r>
            <a:r>
              <a:rPr lang="fa-IR" sz="1400" dirty="0"/>
              <a:t> </a:t>
            </a:r>
            <a:r>
              <a:rPr lang="en-US" sz="1400" dirty="0"/>
              <a:t>to model more realistic network behavior</a:t>
            </a:r>
            <a:r>
              <a:rPr lang="en-US" sz="1200" dirty="0"/>
              <a:t>(Noise is applied dynamically during transfers)</a:t>
            </a:r>
            <a:r>
              <a:rPr lang="en-US" sz="1400" dirty="0"/>
              <a:t>.</a:t>
            </a:r>
          </a:p>
          <a:p>
            <a:pPr marL="0" indent="0">
              <a:lnSpc>
                <a:spcPct val="200000"/>
              </a:lnSpc>
              <a:buNone/>
            </a:pPr>
            <a:endParaRPr lang="en-US" sz="1000" dirty="0"/>
          </a:p>
          <a:p>
            <a:pPr>
              <a:lnSpc>
                <a:spcPct val="200000"/>
              </a:lnSpc>
            </a:pPr>
            <a:r>
              <a:rPr lang="en-US" sz="1400" b="1" dirty="0"/>
              <a:t>Implementation Overview</a:t>
            </a:r>
          </a:p>
          <a:p>
            <a:pPr>
              <a:lnSpc>
                <a:spcPct val="200000"/>
              </a:lnSpc>
            </a:pPr>
            <a:r>
              <a:rPr lang="en-US" sz="1400" dirty="0"/>
              <a:t>Upload and download speeds are perturbed by a random noise factor at transfer time.</a:t>
            </a:r>
          </a:p>
          <a:p>
            <a:pPr>
              <a:lnSpc>
                <a:spcPct val="200000"/>
              </a:lnSpc>
            </a:pPr>
            <a:r>
              <a:rPr lang="en-US" sz="1400" dirty="0"/>
              <a:t>The noise affects only the transfer duration, while preserving the average bandwidth over time.</a:t>
            </a:r>
          </a:p>
        </p:txBody>
      </p:sp>
    </p:spTree>
    <p:extLst>
      <p:ext uri="{BB962C8B-B14F-4D97-AF65-F5344CB8AC3E}">
        <p14:creationId xmlns:p14="http://schemas.microsoft.com/office/powerpoint/2010/main" val="330480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408E43-9CD1-D1D3-4B22-AE3C99098CAE}"/>
              </a:ext>
            </a:extLst>
          </p:cNvPr>
          <p:cNvPicPr>
            <a:picLocks noChangeAspect="1"/>
          </p:cNvPicPr>
          <p:nvPr/>
        </p:nvPicPr>
        <p:blipFill>
          <a:blip r:embed="rId2"/>
          <a:stretch>
            <a:fillRect/>
          </a:stretch>
        </p:blipFill>
        <p:spPr>
          <a:xfrm>
            <a:off x="4624182" y="2819484"/>
            <a:ext cx="2943636" cy="1200318"/>
          </a:xfrm>
          <a:prstGeom prst="rect">
            <a:avLst/>
          </a:prstGeom>
        </p:spPr>
      </p:pic>
      <p:sp>
        <p:nvSpPr>
          <p:cNvPr id="4" name="TextBox 3">
            <a:extLst>
              <a:ext uri="{FF2B5EF4-FFF2-40B4-BE49-F238E27FC236}">
                <a16:creationId xmlns:a16="http://schemas.microsoft.com/office/drawing/2014/main" id="{2D1A4669-893C-B1E7-DE06-9EE65E11DE42}"/>
              </a:ext>
            </a:extLst>
          </p:cNvPr>
          <p:cNvSpPr txBox="1"/>
          <p:nvPr/>
        </p:nvSpPr>
        <p:spPr>
          <a:xfrm>
            <a:off x="1312605" y="4283162"/>
            <a:ext cx="2374491" cy="338554"/>
          </a:xfrm>
          <a:prstGeom prst="rect">
            <a:avLst/>
          </a:prstGeom>
          <a:noFill/>
        </p:spPr>
        <p:txBody>
          <a:bodyPr wrap="square">
            <a:spAutoFit/>
          </a:bodyPr>
          <a:lstStyle/>
          <a:p>
            <a:r>
              <a:rPr lang="en-US" sz="1600" dirty="0"/>
              <a:t>Result for n = 10, k = 6</a:t>
            </a:r>
          </a:p>
        </p:txBody>
      </p:sp>
      <p:sp>
        <p:nvSpPr>
          <p:cNvPr id="5" name="TextBox 4">
            <a:extLst>
              <a:ext uri="{FF2B5EF4-FFF2-40B4-BE49-F238E27FC236}">
                <a16:creationId xmlns:a16="http://schemas.microsoft.com/office/drawing/2014/main" id="{738C4A0E-1098-5C68-1CAD-24EAF113AE57}"/>
              </a:ext>
            </a:extLst>
          </p:cNvPr>
          <p:cNvSpPr txBox="1"/>
          <p:nvPr/>
        </p:nvSpPr>
        <p:spPr>
          <a:xfrm>
            <a:off x="4908755" y="4273635"/>
            <a:ext cx="2374491" cy="338554"/>
          </a:xfrm>
          <a:prstGeom prst="rect">
            <a:avLst/>
          </a:prstGeom>
          <a:noFill/>
        </p:spPr>
        <p:txBody>
          <a:bodyPr wrap="square">
            <a:spAutoFit/>
          </a:bodyPr>
          <a:lstStyle/>
          <a:p>
            <a:r>
              <a:rPr lang="en-US" sz="1600" dirty="0"/>
              <a:t>Result for n = 10, k = 7</a:t>
            </a:r>
          </a:p>
        </p:txBody>
      </p:sp>
      <p:sp>
        <p:nvSpPr>
          <p:cNvPr id="6" name="TextBox 5">
            <a:extLst>
              <a:ext uri="{FF2B5EF4-FFF2-40B4-BE49-F238E27FC236}">
                <a16:creationId xmlns:a16="http://schemas.microsoft.com/office/drawing/2014/main" id="{776CF62A-D933-7379-4A72-C8E9EF1BDAA8}"/>
              </a:ext>
            </a:extLst>
          </p:cNvPr>
          <p:cNvSpPr txBox="1"/>
          <p:nvPr/>
        </p:nvSpPr>
        <p:spPr>
          <a:xfrm>
            <a:off x="8504905" y="4283162"/>
            <a:ext cx="2374491" cy="338554"/>
          </a:xfrm>
          <a:prstGeom prst="rect">
            <a:avLst/>
          </a:prstGeom>
          <a:noFill/>
        </p:spPr>
        <p:txBody>
          <a:bodyPr wrap="square">
            <a:spAutoFit/>
          </a:bodyPr>
          <a:lstStyle/>
          <a:p>
            <a:r>
              <a:rPr lang="en-US" sz="1600" dirty="0"/>
              <a:t>Result for n = 10, k = 8</a:t>
            </a:r>
          </a:p>
        </p:txBody>
      </p:sp>
      <p:pic>
        <p:nvPicPr>
          <p:cNvPr id="8" name="Picture 7">
            <a:extLst>
              <a:ext uri="{FF2B5EF4-FFF2-40B4-BE49-F238E27FC236}">
                <a16:creationId xmlns:a16="http://schemas.microsoft.com/office/drawing/2014/main" id="{82D2B3DF-E846-1862-2F69-8D94BAC643B7}"/>
              </a:ext>
            </a:extLst>
          </p:cNvPr>
          <p:cNvPicPr>
            <a:picLocks noChangeAspect="1"/>
          </p:cNvPicPr>
          <p:nvPr/>
        </p:nvPicPr>
        <p:blipFill>
          <a:blip r:embed="rId3"/>
          <a:stretch>
            <a:fillRect/>
          </a:stretch>
        </p:blipFill>
        <p:spPr>
          <a:xfrm>
            <a:off x="8201487" y="2819484"/>
            <a:ext cx="2981325" cy="1181100"/>
          </a:xfrm>
          <a:prstGeom prst="rect">
            <a:avLst/>
          </a:prstGeom>
        </p:spPr>
      </p:pic>
      <p:pic>
        <p:nvPicPr>
          <p:cNvPr id="10" name="Picture 9">
            <a:extLst>
              <a:ext uri="{FF2B5EF4-FFF2-40B4-BE49-F238E27FC236}">
                <a16:creationId xmlns:a16="http://schemas.microsoft.com/office/drawing/2014/main" id="{EEDC7E34-8F9C-BA9C-40D3-29503E088FEC}"/>
              </a:ext>
            </a:extLst>
          </p:cNvPr>
          <p:cNvPicPr>
            <a:picLocks noChangeAspect="1"/>
          </p:cNvPicPr>
          <p:nvPr/>
        </p:nvPicPr>
        <p:blipFill>
          <a:blip r:embed="rId4"/>
          <a:stretch>
            <a:fillRect/>
          </a:stretch>
        </p:blipFill>
        <p:spPr>
          <a:xfrm>
            <a:off x="1028238" y="2819484"/>
            <a:ext cx="2962275" cy="1209675"/>
          </a:xfrm>
          <a:prstGeom prst="rect">
            <a:avLst/>
          </a:prstGeom>
        </p:spPr>
      </p:pic>
      <p:sp>
        <p:nvSpPr>
          <p:cNvPr id="13" name="Title 1">
            <a:extLst>
              <a:ext uri="{FF2B5EF4-FFF2-40B4-BE49-F238E27FC236}">
                <a16:creationId xmlns:a16="http://schemas.microsoft.com/office/drawing/2014/main" id="{FF9AE45A-C643-847C-C799-F67764FF5BD4}"/>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P2P Configuration Results</a:t>
            </a:r>
          </a:p>
          <a:p>
            <a:pPr>
              <a:lnSpc>
                <a:spcPct val="150000"/>
              </a:lnSpc>
            </a:pPr>
            <a:r>
              <a:rPr lang="en-US" sz="2000" dirty="0"/>
              <a:t> With Noised upload and download speed</a:t>
            </a:r>
          </a:p>
        </p:txBody>
      </p:sp>
      <p:sp>
        <p:nvSpPr>
          <p:cNvPr id="14" name="TextBox 13">
            <a:extLst>
              <a:ext uri="{FF2B5EF4-FFF2-40B4-BE49-F238E27FC236}">
                <a16:creationId xmlns:a16="http://schemas.microsoft.com/office/drawing/2014/main" id="{96BBCDC9-9854-4518-DE71-65DB27251899}"/>
              </a:ext>
            </a:extLst>
          </p:cNvPr>
          <p:cNvSpPr txBox="1"/>
          <p:nvPr/>
        </p:nvSpPr>
        <p:spPr>
          <a:xfrm>
            <a:off x="589935" y="5144333"/>
            <a:ext cx="11405420" cy="892552"/>
          </a:xfrm>
          <a:prstGeom prst="rect">
            <a:avLst/>
          </a:prstGeom>
          <a:noFill/>
        </p:spPr>
        <p:txBody>
          <a:bodyPr wrap="square">
            <a:spAutoFit/>
          </a:bodyPr>
          <a:lstStyle/>
          <a:p>
            <a:r>
              <a:rPr lang="en-US" sz="1600" dirty="0"/>
              <a:t>Peers = 20, average lifetime = 1 year, data size = 1 GiB, storage size = 10 GiB, upload noise = 0.9, download noise = 0.9</a:t>
            </a:r>
          </a:p>
          <a:p>
            <a:pPr algn="ctr"/>
            <a:endParaRPr lang="en-US" sz="1600" dirty="0"/>
          </a:p>
          <a:p>
            <a:endParaRPr lang="en-US" dirty="0"/>
          </a:p>
        </p:txBody>
      </p:sp>
    </p:spTree>
    <p:extLst>
      <p:ext uri="{BB962C8B-B14F-4D97-AF65-F5344CB8AC3E}">
        <p14:creationId xmlns:p14="http://schemas.microsoft.com/office/powerpoint/2010/main" val="343596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8B20A75-E22F-2AC4-E989-7085305636B9}"/>
              </a:ext>
            </a:extLst>
          </p:cNvPr>
          <p:cNvSpPr txBox="1">
            <a:spLocks/>
          </p:cNvSpPr>
          <p:nvPr/>
        </p:nvSpPr>
        <p:spPr>
          <a:xfrm>
            <a:off x="589935" y="1961536"/>
            <a:ext cx="9360310" cy="3957484"/>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150000"/>
              </a:lnSpc>
            </a:pPr>
            <a:r>
              <a:rPr lang="en-US" sz="1400" dirty="0"/>
              <a:t>With strong bandwidth noise (</a:t>
            </a:r>
            <a:r>
              <a:rPr lang="en-US" sz="1400" dirty="0" err="1"/>
              <a:t>upload_noise</a:t>
            </a:r>
            <a:r>
              <a:rPr lang="en-US" sz="1400" dirty="0"/>
              <a:t> = 0.9, </a:t>
            </a:r>
            <a:r>
              <a:rPr lang="en-US" sz="1400" dirty="0" err="1"/>
              <a:t>download_noise</a:t>
            </a:r>
            <a:r>
              <a:rPr lang="en-US" sz="1400" dirty="0"/>
              <a:t> = 0.9), the system exhibits high variability in transfer times.</a:t>
            </a:r>
          </a:p>
          <a:p>
            <a:pPr>
              <a:lnSpc>
                <a:spcPct val="150000"/>
              </a:lnSpc>
            </a:pPr>
            <a:r>
              <a:rPr lang="en-US" sz="1400" dirty="0"/>
              <a:t>For k = 6, the system remains stable and no data loss occurs. The system survives long enough for very slow transfers to complete, resulting in high maximum transfer delays.</a:t>
            </a:r>
          </a:p>
          <a:p>
            <a:pPr>
              <a:lnSpc>
                <a:spcPct val="150000"/>
              </a:lnSpc>
            </a:pPr>
            <a:r>
              <a:rPr lang="en-US" sz="1400" dirty="0"/>
              <a:t>For k = 7 and k = 8, redundancy is insufficient to tolerate bandwidth fluctuations. Recovery operations are delayed, failures overlap, and data loss occurs. In these cases, the system fails earlier, leading to lower observed maximum delays.</a:t>
            </a:r>
          </a:p>
        </p:txBody>
      </p:sp>
      <p:sp>
        <p:nvSpPr>
          <p:cNvPr id="3" name="Title 1">
            <a:extLst>
              <a:ext uri="{FF2B5EF4-FFF2-40B4-BE49-F238E27FC236}">
                <a16:creationId xmlns:a16="http://schemas.microsoft.com/office/drawing/2014/main" id="{BD3D517C-21C1-C290-7357-6665E6385B67}"/>
              </a:ext>
            </a:extLst>
          </p:cNvPr>
          <p:cNvSpPr txBox="1">
            <a:spLocks/>
          </p:cNvSpPr>
          <p:nvPr/>
        </p:nvSpPr>
        <p:spPr>
          <a:xfrm>
            <a:off x="589935" y="337368"/>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Results with Upload/Download Noise </a:t>
            </a:r>
            <a:r>
              <a:rPr lang="en-US" sz="2000" dirty="0"/>
              <a:t>(p2p)</a:t>
            </a:r>
          </a:p>
        </p:txBody>
      </p:sp>
    </p:spTree>
    <p:extLst>
      <p:ext uri="{BB962C8B-B14F-4D97-AF65-F5344CB8AC3E}">
        <p14:creationId xmlns:p14="http://schemas.microsoft.com/office/powerpoint/2010/main" val="13281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4B946A-E9B0-110E-13C7-6407809B7593}"/>
              </a:ext>
            </a:extLst>
          </p:cNvPr>
          <p:cNvSpPr txBox="1"/>
          <p:nvPr/>
        </p:nvSpPr>
        <p:spPr>
          <a:xfrm>
            <a:off x="1312605" y="4283162"/>
            <a:ext cx="2374491" cy="338554"/>
          </a:xfrm>
          <a:prstGeom prst="rect">
            <a:avLst/>
          </a:prstGeom>
          <a:noFill/>
        </p:spPr>
        <p:txBody>
          <a:bodyPr wrap="square">
            <a:spAutoFit/>
          </a:bodyPr>
          <a:lstStyle/>
          <a:p>
            <a:r>
              <a:rPr lang="en-US" sz="1600" dirty="0"/>
              <a:t>Result for n = 10, k = 6</a:t>
            </a:r>
          </a:p>
        </p:txBody>
      </p:sp>
      <p:sp>
        <p:nvSpPr>
          <p:cNvPr id="6" name="TextBox 5">
            <a:extLst>
              <a:ext uri="{FF2B5EF4-FFF2-40B4-BE49-F238E27FC236}">
                <a16:creationId xmlns:a16="http://schemas.microsoft.com/office/drawing/2014/main" id="{0A91C739-83E9-765E-B192-0E6FED29547A}"/>
              </a:ext>
            </a:extLst>
          </p:cNvPr>
          <p:cNvSpPr txBox="1"/>
          <p:nvPr/>
        </p:nvSpPr>
        <p:spPr>
          <a:xfrm>
            <a:off x="4908755" y="4273635"/>
            <a:ext cx="2374491" cy="338554"/>
          </a:xfrm>
          <a:prstGeom prst="rect">
            <a:avLst/>
          </a:prstGeom>
          <a:noFill/>
        </p:spPr>
        <p:txBody>
          <a:bodyPr wrap="square">
            <a:spAutoFit/>
          </a:bodyPr>
          <a:lstStyle/>
          <a:p>
            <a:r>
              <a:rPr lang="en-US" sz="1600" dirty="0"/>
              <a:t>Result for n = 10, k = 7</a:t>
            </a:r>
          </a:p>
        </p:txBody>
      </p:sp>
      <p:sp>
        <p:nvSpPr>
          <p:cNvPr id="7" name="TextBox 6">
            <a:extLst>
              <a:ext uri="{FF2B5EF4-FFF2-40B4-BE49-F238E27FC236}">
                <a16:creationId xmlns:a16="http://schemas.microsoft.com/office/drawing/2014/main" id="{767B631A-F51E-9AD0-43F7-51D82FDD8C67}"/>
              </a:ext>
            </a:extLst>
          </p:cNvPr>
          <p:cNvSpPr txBox="1"/>
          <p:nvPr/>
        </p:nvSpPr>
        <p:spPr>
          <a:xfrm>
            <a:off x="8504905" y="4283162"/>
            <a:ext cx="2374491" cy="338554"/>
          </a:xfrm>
          <a:prstGeom prst="rect">
            <a:avLst/>
          </a:prstGeom>
          <a:noFill/>
        </p:spPr>
        <p:txBody>
          <a:bodyPr wrap="square">
            <a:spAutoFit/>
          </a:bodyPr>
          <a:lstStyle/>
          <a:p>
            <a:r>
              <a:rPr lang="en-US" sz="1600" dirty="0"/>
              <a:t>Result for n = 10, k = 8</a:t>
            </a:r>
          </a:p>
        </p:txBody>
      </p:sp>
      <p:sp>
        <p:nvSpPr>
          <p:cNvPr id="10" name="Title 1">
            <a:extLst>
              <a:ext uri="{FF2B5EF4-FFF2-40B4-BE49-F238E27FC236}">
                <a16:creationId xmlns:a16="http://schemas.microsoft.com/office/drawing/2014/main" id="{F835AC56-7A7A-6FAC-F534-C42016FB6CA4}"/>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Client–Server Configuration Results</a:t>
            </a:r>
          </a:p>
          <a:p>
            <a:pPr>
              <a:lnSpc>
                <a:spcPct val="150000"/>
              </a:lnSpc>
            </a:pPr>
            <a:r>
              <a:rPr lang="en-US" sz="2000" dirty="0"/>
              <a:t> With Noised upload and download speed</a:t>
            </a:r>
          </a:p>
        </p:txBody>
      </p:sp>
      <p:sp>
        <p:nvSpPr>
          <p:cNvPr id="11" name="TextBox 10">
            <a:extLst>
              <a:ext uri="{FF2B5EF4-FFF2-40B4-BE49-F238E27FC236}">
                <a16:creationId xmlns:a16="http://schemas.microsoft.com/office/drawing/2014/main" id="{7E3BE22A-53F7-937C-EBC5-511938CF1714}"/>
              </a:ext>
            </a:extLst>
          </p:cNvPr>
          <p:cNvSpPr txBox="1"/>
          <p:nvPr/>
        </p:nvSpPr>
        <p:spPr>
          <a:xfrm>
            <a:off x="599767" y="5144333"/>
            <a:ext cx="11405420" cy="1723549"/>
          </a:xfrm>
          <a:prstGeom prst="rect">
            <a:avLst/>
          </a:prstGeom>
          <a:noFill/>
        </p:spPr>
        <p:txBody>
          <a:bodyPr wrap="square">
            <a:spAutoFit/>
          </a:bodyPr>
          <a:lstStyle/>
          <a:p>
            <a:pPr>
              <a:lnSpc>
                <a:spcPct val="150000"/>
              </a:lnSpc>
            </a:pPr>
            <a:r>
              <a:rPr lang="en-US" sz="1600" dirty="0"/>
              <a:t>Peers = 20, average lifetime = 1 year, data size = 1 GiB, storage size = 10 GiB</a:t>
            </a:r>
          </a:p>
          <a:p>
            <a:pPr>
              <a:lnSpc>
                <a:spcPct val="150000"/>
              </a:lnSpc>
            </a:pPr>
            <a:r>
              <a:rPr lang="en-US" sz="1600" dirty="0"/>
              <a:t>Node: upload noise = 0.9, download noise = 0.9</a:t>
            </a:r>
          </a:p>
          <a:p>
            <a:pPr>
              <a:lnSpc>
                <a:spcPct val="150000"/>
              </a:lnSpc>
            </a:pPr>
            <a:r>
              <a:rPr lang="en-US" sz="1600" dirty="0"/>
              <a:t>Server: upload noise = 0.1, download noise = 0.1</a:t>
            </a:r>
          </a:p>
          <a:p>
            <a:pPr algn="ctr"/>
            <a:endParaRPr lang="en-US" sz="1600" dirty="0"/>
          </a:p>
          <a:p>
            <a:endParaRPr lang="en-US" dirty="0"/>
          </a:p>
        </p:txBody>
      </p:sp>
      <p:pic>
        <p:nvPicPr>
          <p:cNvPr id="19" name="Picture 18">
            <a:extLst>
              <a:ext uri="{FF2B5EF4-FFF2-40B4-BE49-F238E27FC236}">
                <a16:creationId xmlns:a16="http://schemas.microsoft.com/office/drawing/2014/main" id="{60BDC441-9BBD-9914-643D-D2CDC8464CD6}"/>
              </a:ext>
            </a:extLst>
          </p:cNvPr>
          <p:cNvPicPr>
            <a:picLocks noChangeAspect="1"/>
          </p:cNvPicPr>
          <p:nvPr/>
        </p:nvPicPr>
        <p:blipFill>
          <a:blip r:embed="rId2"/>
          <a:stretch>
            <a:fillRect/>
          </a:stretch>
        </p:blipFill>
        <p:spPr>
          <a:xfrm>
            <a:off x="1008979" y="2829010"/>
            <a:ext cx="2981741" cy="1247949"/>
          </a:xfrm>
          <a:prstGeom prst="rect">
            <a:avLst/>
          </a:prstGeom>
        </p:spPr>
      </p:pic>
      <p:pic>
        <p:nvPicPr>
          <p:cNvPr id="21" name="Picture 20">
            <a:extLst>
              <a:ext uri="{FF2B5EF4-FFF2-40B4-BE49-F238E27FC236}">
                <a16:creationId xmlns:a16="http://schemas.microsoft.com/office/drawing/2014/main" id="{F9211D0C-9B21-8A9D-69AE-F9AD2E07F785}"/>
              </a:ext>
            </a:extLst>
          </p:cNvPr>
          <p:cNvPicPr>
            <a:picLocks noChangeAspect="1"/>
          </p:cNvPicPr>
          <p:nvPr/>
        </p:nvPicPr>
        <p:blipFill>
          <a:blip r:embed="rId3"/>
          <a:stretch>
            <a:fillRect/>
          </a:stretch>
        </p:blipFill>
        <p:spPr>
          <a:xfrm>
            <a:off x="4686000" y="2829010"/>
            <a:ext cx="2896004" cy="1267002"/>
          </a:xfrm>
          <a:prstGeom prst="rect">
            <a:avLst/>
          </a:prstGeom>
        </p:spPr>
      </p:pic>
      <p:pic>
        <p:nvPicPr>
          <p:cNvPr id="23" name="Picture 22">
            <a:extLst>
              <a:ext uri="{FF2B5EF4-FFF2-40B4-BE49-F238E27FC236}">
                <a16:creationId xmlns:a16="http://schemas.microsoft.com/office/drawing/2014/main" id="{DB67B20F-82D6-88FF-33E9-AB87C1686FBE}"/>
              </a:ext>
            </a:extLst>
          </p:cNvPr>
          <p:cNvPicPr>
            <a:picLocks noChangeAspect="1"/>
          </p:cNvPicPr>
          <p:nvPr/>
        </p:nvPicPr>
        <p:blipFill>
          <a:blip r:embed="rId4"/>
          <a:stretch>
            <a:fillRect/>
          </a:stretch>
        </p:blipFill>
        <p:spPr>
          <a:xfrm>
            <a:off x="8277284" y="2829010"/>
            <a:ext cx="2953162" cy="1219370"/>
          </a:xfrm>
          <a:prstGeom prst="rect">
            <a:avLst/>
          </a:prstGeom>
        </p:spPr>
      </p:pic>
    </p:spTree>
    <p:extLst>
      <p:ext uri="{BB962C8B-B14F-4D97-AF65-F5344CB8AC3E}">
        <p14:creationId xmlns:p14="http://schemas.microsoft.com/office/powerpoint/2010/main" val="485327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4304-AE50-FA74-FB33-4B224DE1B42F}"/>
              </a:ext>
            </a:extLst>
          </p:cNvPr>
          <p:cNvSpPr txBox="1">
            <a:spLocks/>
          </p:cNvSpPr>
          <p:nvPr/>
        </p:nvSpPr>
        <p:spPr>
          <a:xfrm>
            <a:off x="589935" y="337368"/>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Results with Upload/Download Noise </a:t>
            </a:r>
            <a:r>
              <a:rPr lang="en-US" sz="1800" dirty="0"/>
              <a:t>(client-server)</a:t>
            </a:r>
          </a:p>
        </p:txBody>
      </p:sp>
      <p:sp>
        <p:nvSpPr>
          <p:cNvPr id="3" name="Content Placeholder 2">
            <a:extLst>
              <a:ext uri="{FF2B5EF4-FFF2-40B4-BE49-F238E27FC236}">
                <a16:creationId xmlns:a16="http://schemas.microsoft.com/office/drawing/2014/main" id="{10E0FBED-7758-8D7A-15EC-95CC7A82929E}"/>
              </a:ext>
            </a:extLst>
          </p:cNvPr>
          <p:cNvSpPr txBox="1">
            <a:spLocks/>
          </p:cNvSpPr>
          <p:nvPr/>
        </p:nvSpPr>
        <p:spPr>
          <a:xfrm>
            <a:off x="589935" y="1784555"/>
            <a:ext cx="9360310" cy="3957484"/>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150000"/>
              </a:lnSpc>
            </a:pPr>
            <a:r>
              <a:rPr lang="en-US" sz="1400" dirty="0"/>
              <a:t>In this experiment, bandwidth noise is modeled asymmetrically. Client nodes use </a:t>
            </a:r>
            <a:r>
              <a:rPr lang="en-US" sz="1400" dirty="0" err="1"/>
              <a:t>upload_noise</a:t>
            </a:r>
            <a:r>
              <a:rPr lang="en-US" sz="1400" dirty="0"/>
              <a:t> = 0.9 and </a:t>
            </a:r>
            <a:r>
              <a:rPr lang="en-US" sz="1400" dirty="0" err="1"/>
              <a:t>download_noise</a:t>
            </a:r>
            <a:r>
              <a:rPr lang="en-US" sz="1400" dirty="0"/>
              <a:t> = 0.9,while server nodes use </a:t>
            </a:r>
            <a:r>
              <a:rPr lang="en-US" sz="1400" dirty="0" err="1"/>
              <a:t>upload_noise</a:t>
            </a:r>
            <a:r>
              <a:rPr lang="en-US" sz="1400" dirty="0"/>
              <a:t> = 0.1 and </a:t>
            </a:r>
            <a:r>
              <a:rPr lang="en-US" sz="1400" dirty="0" err="1"/>
              <a:t>download_noise</a:t>
            </a:r>
            <a:r>
              <a:rPr lang="en-US" sz="1400" dirty="0"/>
              <a:t> = 0.1.</a:t>
            </a:r>
          </a:p>
          <a:p>
            <a:pPr>
              <a:lnSpc>
                <a:spcPct val="150000"/>
              </a:lnSpc>
            </a:pPr>
            <a:r>
              <a:rPr lang="en-US" sz="1400" dirty="0"/>
              <a:t>Compared to the pure peer-to-peer experiments, the client–server model shows higher robustness under the same redundancy level.</a:t>
            </a:r>
          </a:p>
          <a:p>
            <a:pPr>
              <a:lnSpc>
                <a:spcPct val="150000"/>
              </a:lnSpc>
            </a:pPr>
            <a:r>
              <a:rPr lang="en-US" sz="1400" dirty="0"/>
              <a:t>In previous experiments, data loss occurred already for k = 7. In contrast, in the client–server configuration, the system remains durable for both k = 6 and k = 7, despite strong bandwidth noise on client nodes.</a:t>
            </a:r>
          </a:p>
          <a:p>
            <a:pPr>
              <a:lnSpc>
                <a:spcPct val="150000"/>
              </a:lnSpc>
            </a:pPr>
            <a:r>
              <a:rPr lang="en-US" sz="1400" dirty="0"/>
              <a:t>This indicates that the presence of stable storage servers significantly improves recovery reliability, allowing the system to tolerate higher values of k before data loss occurs.</a:t>
            </a:r>
          </a:p>
          <a:p>
            <a:pPr>
              <a:lnSpc>
                <a:spcPct val="150000"/>
              </a:lnSpc>
            </a:pPr>
            <a:r>
              <a:rPr lang="en-US" sz="1400" dirty="0"/>
              <a:t>When k = 8, redundancy becomes insufficient even in the client–server setup, and data loss is eventually observed.</a:t>
            </a:r>
          </a:p>
        </p:txBody>
      </p:sp>
    </p:spTree>
    <p:extLst>
      <p:ext uri="{BB962C8B-B14F-4D97-AF65-F5344CB8AC3E}">
        <p14:creationId xmlns:p14="http://schemas.microsoft.com/office/powerpoint/2010/main" val="158611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B94B5CC-B34A-DA8F-B9EC-C2392D48A56C}"/>
              </a:ext>
            </a:extLst>
          </p:cNvPr>
          <p:cNvSpPr txBox="1">
            <a:spLocks/>
          </p:cNvSpPr>
          <p:nvPr/>
        </p:nvSpPr>
        <p:spPr>
          <a:xfrm>
            <a:off x="589935" y="1784555"/>
            <a:ext cx="9360310" cy="3957484"/>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150000"/>
              </a:lnSpc>
            </a:pPr>
            <a:r>
              <a:rPr lang="en-US" sz="1400" dirty="0"/>
              <a:t>Data durability strongly depends on the erasure coding parameters (n, k). Higher values of k reduce redundancy and increase the risk of data loss.</a:t>
            </a:r>
          </a:p>
          <a:p>
            <a:pPr>
              <a:lnSpc>
                <a:spcPct val="150000"/>
              </a:lnSpc>
            </a:pPr>
            <a:r>
              <a:rPr lang="en-US" sz="1400" dirty="0"/>
              <a:t>Compared to a pure peer-to-peer system, the client–server configuration is more robust, tolerating higher values of k before data loss occurs.</a:t>
            </a:r>
          </a:p>
          <a:p>
            <a:pPr>
              <a:lnSpc>
                <a:spcPct val="150000"/>
              </a:lnSpc>
            </a:pPr>
            <a:r>
              <a:rPr lang="en-US" sz="1400" dirty="0"/>
              <a:t>Bandwidth variability plays a critical role: strong upload/download noise can cause data loss even when average bandwidth remains unchanged.</a:t>
            </a:r>
          </a:p>
          <a:p>
            <a:pPr>
              <a:lnSpc>
                <a:spcPct val="150000"/>
              </a:lnSpc>
            </a:pPr>
            <a:r>
              <a:rPr lang="en-US" sz="1400" dirty="0"/>
              <a:t>Stable storage servers significantly improve recovery reliability, at the cost of higher recovery delays due to bandwidth bottlenecks.</a:t>
            </a:r>
          </a:p>
        </p:txBody>
      </p:sp>
      <p:sp>
        <p:nvSpPr>
          <p:cNvPr id="3" name="Title 1">
            <a:extLst>
              <a:ext uri="{FF2B5EF4-FFF2-40B4-BE49-F238E27FC236}">
                <a16:creationId xmlns:a16="http://schemas.microsoft.com/office/drawing/2014/main" id="{8FE40717-4459-C1E9-6492-7DA5D3E0E7A0}"/>
              </a:ext>
            </a:extLst>
          </p:cNvPr>
          <p:cNvSpPr txBox="1">
            <a:spLocks/>
          </p:cNvSpPr>
          <p:nvPr/>
        </p:nvSpPr>
        <p:spPr>
          <a:xfrm>
            <a:off x="589935" y="337368"/>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Final Conclusions</a:t>
            </a:r>
          </a:p>
        </p:txBody>
      </p:sp>
    </p:spTree>
    <p:extLst>
      <p:ext uri="{BB962C8B-B14F-4D97-AF65-F5344CB8AC3E}">
        <p14:creationId xmlns:p14="http://schemas.microsoft.com/office/powerpoint/2010/main" val="290379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6192-F5F8-4FDB-AE4A-C2798C5F7F26}"/>
              </a:ext>
            </a:extLst>
          </p:cNvPr>
          <p:cNvSpPr txBox="1">
            <a:spLocks/>
          </p:cNvSpPr>
          <p:nvPr/>
        </p:nvSpPr>
        <p:spPr>
          <a:xfrm>
            <a:off x="540773" y="233573"/>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Use of External Resources</a:t>
            </a:r>
          </a:p>
          <a:p>
            <a:endParaRPr lang="fa-IR" dirty="0"/>
          </a:p>
        </p:txBody>
      </p:sp>
      <p:sp>
        <p:nvSpPr>
          <p:cNvPr id="3" name="Content Placeholder 2">
            <a:extLst>
              <a:ext uri="{FF2B5EF4-FFF2-40B4-BE49-F238E27FC236}">
                <a16:creationId xmlns:a16="http://schemas.microsoft.com/office/drawing/2014/main" id="{74F668AC-9501-5AD9-770A-0B87655B8C49}"/>
              </a:ext>
            </a:extLst>
          </p:cNvPr>
          <p:cNvSpPr txBox="1">
            <a:spLocks/>
          </p:cNvSpPr>
          <p:nvPr/>
        </p:nvSpPr>
        <p:spPr>
          <a:xfrm>
            <a:off x="540773" y="1974449"/>
            <a:ext cx="10746659" cy="4649978"/>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100000"/>
              </a:lnSpc>
              <a:spcBef>
                <a:spcPts val="2400"/>
              </a:spcBef>
            </a:pPr>
            <a:r>
              <a:rPr lang="en-US" sz="1400" dirty="0"/>
              <a:t>This assignment was completed individually.</a:t>
            </a:r>
          </a:p>
          <a:p>
            <a:pPr>
              <a:lnSpc>
                <a:spcPct val="150000"/>
              </a:lnSpc>
              <a:spcBef>
                <a:spcPts val="2400"/>
              </a:spcBef>
            </a:pPr>
            <a:r>
              <a:rPr lang="en-US" sz="1400" dirty="0"/>
              <a:t>Large language models (ChatGPT) were extensively used as a support and learning tool, both to understand how the provided simulator code works and to assist in the implementation of the assignment, including writing and modifying parts of the code. ChatGPT was also used to help with Python syntax, code structuring, and implementation ideas, due to limited prior experience with Python.</a:t>
            </a:r>
          </a:p>
          <a:p>
            <a:pPr>
              <a:lnSpc>
                <a:spcPct val="150000"/>
              </a:lnSpc>
              <a:spcBef>
                <a:spcPts val="2400"/>
              </a:spcBef>
            </a:pPr>
            <a:r>
              <a:rPr lang="en-US" sz="1400" dirty="0"/>
              <a:t>In addition, ChatGPT was used to</a:t>
            </a:r>
            <a:r>
              <a:rPr lang="fa-IR" sz="1400" dirty="0"/>
              <a:t> </a:t>
            </a:r>
            <a:r>
              <a:rPr lang="en-US" sz="1400" dirty="0"/>
              <a:t>support the writing of the report,</a:t>
            </a:r>
            <a:r>
              <a:rPr lang="fa-IR" sz="1400" dirty="0"/>
              <a:t> </a:t>
            </a:r>
            <a:r>
              <a:rPr lang="en-US" sz="1400" dirty="0"/>
              <a:t>helping with structure, clarity, and grammatical correctness.</a:t>
            </a:r>
          </a:p>
          <a:p>
            <a:pPr>
              <a:lnSpc>
                <a:spcPct val="100000"/>
              </a:lnSpc>
              <a:spcBef>
                <a:spcPts val="2400"/>
              </a:spcBef>
            </a:pPr>
            <a:r>
              <a:rPr lang="en-US" sz="1400" dirty="0"/>
              <a:t>All design decisions, simulator modifications and experimental setups were independently carried out by the author.</a:t>
            </a:r>
          </a:p>
        </p:txBody>
      </p:sp>
    </p:spTree>
    <p:extLst>
      <p:ext uri="{BB962C8B-B14F-4D97-AF65-F5344CB8AC3E}">
        <p14:creationId xmlns:p14="http://schemas.microsoft.com/office/powerpoint/2010/main" val="1759450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35837-CE84-DB5A-E7D0-029E9EFBE745}"/>
              </a:ext>
            </a:extLst>
          </p:cNvPr>
          <p:cNvSpPr txBox="1">
            <a:spLocks/>
          </p:cNvSpPr>
          <p:nvPr/>
        </p:nvSpPr>
        <p:spPr>
          <a:xfrm>
            <a:off x="540773" y="233573"/>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Project Repository</a:t>
            </a:r>
          </a:p>
          <a:p>
            <a:endParaRPr lang="fa-IR" dirty="0"/>
          </a:p>
        </p:txBody>
      </p:sp>
      <p:sp>
        <p:nvSpPr>
          <p:cNvPr id="3" name="Content Placeholder 2">
            <a:extLst>
              <a:ext uri="{FF2B5EF4-FFF2-40B4-BE49-F238E27FC236}">
                <a16:creationId xmlns:a16="http://schemas.microsoft.com/office/drawing/2014/main" id="{67BCB0F9-7CED-58FB-BB46-152690F44EAF}"/>
              </a:ext>
            </a:extLst>
          </p:cNvPr>
          <p:cNvSpPr txBox="1">
            <a:spLocks/>
          </p:cNvSpPr>
          <p:nvPr/>
        </p:nvSpPr>
        <p:spPr>
          <a:xfrm>
            <a:off x="540773" y="1974449"/>
            <a:ext cx="10373033" cy="3128493"/>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600" dirty="0"/>
              <a:t>The source code of the simulator is available at:</a:t>
            </a:r>
          </a:p>
          <a:p>
            <a:pPr marL="0" indent="0">
              <a:lnSpc>
                <a:spcPct val="100000"/>
              </a:lnSpc>
              <a:buNone/>
            </a:pPr>
            <a:endParaRPr lang="en-US" sz="1600" dirty="0"/>
          </a:p>
          <a:p>
            <a:pPr marL="0" indent="0">
              <a:lnSpc>
                <a:spcPct val="100000"/>
              </a:lnSpc>
              <a:buNone/>
            </a:pPr>
            <a:r>
              <a:rPr lang="en-US" sz="1600" dirty="0">
                <a:hlinkClick r:id="rId2"/>
              </a:rPr>
              <a:t>https://github.com/Argon2002/DC_Assignment2.git</a:t>
            </a:r>
            <a:endParaRPr lang="en-US" sz="1600" dirty="0"/>
          </a:p>
        </p:txBody>
      </p:sp>
    </p:spTree>
    <p:extLst>
      <p:ext uri="{BB962C8B-B14F-4D97-AF65-F5344CB8AC3E}">
        <p14:creationId xmlns:p14="http://schemas.microsoft.com/office/powerpoint/2010/main" val="4282964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F3D5E5-8581-0905-037D-4E331F0A3823}"/>
              </a:ext>
            </a:extLst>
          </p:cNvPr>
          <p:cNvSpPr txBox="1">
            <a:spLocks/>
          </p:cNvSpPr>
          <p:nvPr/>
        </p:nvSpPr>
        <p:spPr>
          <a:xfrm>
            <a:off x="1305232" y="3098384"/>
            <a:ext cx="9581535" cy="661231"/>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3600" dirty="0"/>
              <a:t>Appendix – Implementation Details</a:t>
            </a:r>
            <a:endParaRPr lang="fa-IR" sz="3600" dirty="0"/>
          </a:p>
        </p:txBody>
      </p:sp>
    </p:spTree>
    <p:extLst>
      <p:ext uri="{BB962C8B-B14F-4D97-AF65-F5344CB8AC3E}">
        <p14:creationId xmlns:p14="http://schemas.microsoft.com/office/powerpoint/2010/main" val="161737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B90C81-8AA5-290E-44A3-616E6AD044EE}"/>
              </a:ext>
            </a:extLst>
          </p:cNvPr>
          <p:cNvPicPr>
            <a:picLocks noChangeAspect="1"/>
          </p:cNvPicPr>
          <p:nvPr/>
        </p:nvPicPr>
        <p:blipFill>
          <a:blip r:embed="rId2"/>
          <a:stretch>
            <a:fillRect/>
          </a:stretch>
        </p:blipFill>
        <p:spPr>
          <a:xfrm>
            <a:off x="621206" y="2740991"/>
            <a:ext cx="4174308" cy="1376018"/>
          </a:xfrm>
          <a:prstGeom prst="rect">
            <a:avLst/>
          </a:prstGeom>
        </p:spPr>
      </p:pic>
      <p:sp>
        <p:nvSpPr>
          <p:cNvPr id="5" name="Content Placeholder 2">
            <a:extLst>
              <a:ext uri="{FF2B5EF4-FFF2-40B4-BE49-F238E27FC236}">
                <a16:creationId xmlns:a16="http://schemas.microsoft.com/office/drawing/2014/main" id="{1B386B37-2AD1-E3B0-7703-14F24F839EAB}"/>
              </a:ext>
            </a:extLst>
          </p:cNvPr>
          <p:cNvSpPr txBox="1">
            <a:spLocks/>
          </p:cNvSpPr>
          <p:nvPr/>
        </p:nvSpPr>
        <p:spPr>
          <a:xfrm>
            <a:off x="5543620" y="1555705"/>
            <a:ext cx="6027174" cy="5122607"/>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20000"/>
              </a:lnSpc>
              <a:buNone/>
            </a:pPr>
            <a:r>
              <a:rPr lang="en-US" sz="1200" dirty="0"/>
              <a:t>A quick look of the functionality of each file:</a:t>
            </a:r>
          </a:p>
          <a:p>
            <a:pPr>
              <a:lnSpc>
                <a:spcPct val="150000"/>
              </a:lnSpc>
            </a:pPr>
            <a:r>
              <a:rPr lang="en-US" sz="1200" dirty="0"/>
              <a:t>storage.py: main simulator implementing a peer-to-peer, client-server backup system based on erasure coding, including node behavior, failures, recovery, and data transfers.</a:t>
            </a:r>
          </a:p>
          <a:p>
            <a:pPr>
              <a:lnSpc>
                <a:spcPct val="150000"/>
              </a:lnSpc>
            </a:pPr>
            <a:r>
              <a:rPr lang="en-US" sz="1200" dirty="0"/>
              <a:t>discrete_event_sim.py: core discrete-event simulation engine used to manage simulation time and schedule events.</a:t>
            </a:r>
          </a:p>
          <a:p>
            <a:pPr>
              <a:lnSpc>
                <a:spcPct val="150000"/>
              </a:lnSpc>
            </a:pPr>
            <a:r>
              <a:rPr lang="en-US" sz="1200" dirty="0"/>
              <a:t>p2p.cfg: configuration file defining a peer-to-peer system where all nodes have </a:t>
            </a:r>
            <a:r>
              <a:rPr lang="en-US" sz="1200" b="1" dirty="0"/>
              <a:t>similar characteristics </a:t>
            </a:r>
            <a:r>
              <a:rPr lang="en-US" sz="1200" dirty="0"/>
              <a:t>and store data for each other.</a:t>
            </a:r>
          </a:p>
          <a:p>
            <a:pPr>
              <a:lnSpc>
                <a:spcPct val="150000"/>
              </a:lnSpc>
            </a:pPr>
            <a:r>
              <a:rPr lang="en-US" sz="1200" dirty="0" err="1"/>
              <a:t>client_server.cfg</a:t>
            </a:r>
            <a:r>
              <a:rPr lang="en-US" sz="1200" dirty="0"/>
              <a:t>: configuration file modeling a </a:t>
            </a:r>
            <a:r>
              <a:rPr lang="en-US" sz="1200" b="1" dirty="0"/>
              <a:t>client-server–like </a:t>
            </a:r>
            <a:r>
              <a:rPr lang="en-US" sz="1200" dirty="0"/>
              <a:t>system, where some nodes do not own data but provide storage to others.</a:t>
            </a:r>
          </a:p>
          <a:p>
            <a:pPr>
              <a:lnSpc>
                <a:spcPct val="120000"/>
              </a:lnSpc>
            </a:pPr>
            <a:endParaRPr lang="en-US" sz="1200" dirty="0"/>
          </a:p>
          <a:p>
            <a:pPr>
              <a:lnSpc>
                <a:spcPct val="120000"/>
              </a:lnSpc>
            </a:pPr>
            <a:endParaRPr lang="en-US" sz="1200" dirty="0"/>
          </a:p>
        </p:txBody>
      </p:sp>
      <p:sp>
        <p:nvSpPr>
          <p:cNvPr id="7" name="Title 1">
            <a:extLst>
              <a:ext uri="{FF2B5EF4-FFF2-40B4-BE49-F238E27FC236}">
                <a16:creationId xmlns:a16="http://schemas.microsoft.com/office/drawing/2014/main" id="{411931CE-9129-9218-8EDC-23660DDE1CB3}"/>
              </a:ext>
            </a:extLst>
          </p:cNvPr>
          <p:cNvSpPr txBox="1">
            <a:spLocks/>
          </p:cNvSpPr>
          <p:nvPr/>
        </p:nvSpPr>
        <p:spPr>
          <a:xfrm>
            <a:off x="616974" y="690616"/>
            <a:ext cx="9601200" cy="725179"/>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Files overview</a:t>
            </a:r>
          </a:p>
        </p:txBody>
      </p:sp>
    </p:spTree>
    <p:extLst>
      <p:ext uri="{BB962C8B-B14F-4D97-AF65-F5344CB8AC3E}">
        <p14:creationId xmlns:p14="http://schemas.microsoft.com/office/powerpoint/2010/main" val="373731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71B398B-74B3-B280-451B-B8F636E9B9B8}"/>
              </a:ext>
            </a:extLst>
          </p:cNvPr>
          <p:cNvSpPr txBox="1">
            <a:spLocks/>
          </p:cNvSpPr>
          <p:nvPr/>
        </p:nvSpPr>
        <p:spPr>
          <a:xfrm>
            <a:off x="589935" y="1978792"/>
            <a:ext cx="10579511" cy="4345858"/>
          </a:xfrm>
          <a:prstGeom prst="rect">
            <a:avLst/>
          </a:prstGeom>
        </p:spPr>
        <p:txBody>
          <a:bodyPr>
            <a:normAutofit lnSpcReduction="10000"/>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nSpc>
                <a:spcPct val="200000"/>
              </a:lnSpc>
            </a:pPr>
            <a:r>
              <a:rPr lang="en-US" sz="1400" dirty="0"/>
              <a:t>The simulator is executed from the command line and requires a configuration file describing the classes of nodes to simulate (e.g., p2p.cfg or </a:t>
            </a:r>
            <a:r>
              <a:rPr lang="en-US" sz="1400" dirty="0" err="1"/>
              <a:t>client_server.cfg</a:t>
            </a:r>
            <a:r>
              <a:rPr lang="en-US" sz="1400" dirty="0"/>
              <a:t>).</a:t>
            </a:r>
          </a:p>
          <a:p>
            <a:pPr>
              <a:lnSpc>
                <a:spcPct val="200000"/>
              </a:lnSpc>
            </a:pPr>
            <a:r>
              <a:rPr lang="en-US" sz="1400" dirty="0"/>
              <a:t>Example command:</a:t>
            </a:r>
          </a:p>
          <a:p>
            <a:pPr>
              <a:lnSpc>
                <a:spcPct val="200000"/>
              </a:lnSpc>
            </a:pPr>
            <a:endParaRPr lang="en-US" sz="1400" dirty="0"/>
          </a:p>
          <a:p>
            <a:pPr>
              <a:lnSpc>
                <a:spcPct val="200000"/>
              </a:lnSpc>
            </a:pPr>
            <a:r>
              <a:rPr lang="en-US" sz="1400" dirty="0">
                <a:solidFill>
                  <a:srgbClr val="C00000"/>
                </a:solidFill>
              </a:rPr>
              <a:t>Parameters</a:t>
            </a:r>
          </a:p>
          <a:p>
            <a:pPr lvl="1">
              <a:lnSpc>
                <a:spcPct val="200000"/>
              </a:lnSpc>
              <a:buFont typeface="Courier New" panose="02070309020205020404" pitchFamily="49" charset="0"/>
              <a:buChar char="o"/>
            </a:pPr>
            <a:r>
              <a:rPr lang="en-US" sz="1200" dirty="0" err="1"/>
              <a:t>cfg</a:t>
            </a:r>
            <a:r>
              <a:rPr lang="en-US" sz="1200" dirty="0"/>
              <a:t>: the system configuration (p2p.cfg or </a:t>
            </a:r>
            <a:r>
              <a:rPr lang="en-US" sz="1200" dirty="0" err="1"/>
              <a:t>client_server.cfg</a:t>
            </a:r>
            <a:r>
              <a:rPr lang="en-US" sz="1200" dirty="0"/>
              <a:t>)</a:t>
            </a:r>
          </a:p>
          <a:p>
            <a:pPr lvl="1">
              <a:lnSpc>
                <a:spcPct val="200000"/>
              </a:lnSpc>
              <a:buFont typeface="Courier New" panose="02070309020205020404" pitchFamily="49" charset="0"/>
              <a:buChar char="o"/>
            </a:pPr>
            <a:r>
              <a:rPr lang="en-US" sz="1200" dirty="0"/>
              <a:t>--max-t (or simulation time): e.g., 100 years, 10 minutes … </a:t>
            </a:r>
          </a:p>
          <a:p>
            <a:pPr lvl="1">
              <a:lnSpc>
                <a:spcPct val="200000"/>
              </a:lnSpc>
              <a:buFont typeface="Courier New" panose="02070309020205020404" pitchFamily="49" charset="0"/>
              <a:buChar char="o"/>
            </a:pPr>
            <a:r>
              <a:rPr lang="en-US" sz="1200" dirty="0"/>
              <a:t>--seed: random seed (enables reproducible runs)</a:t>
            </a:r>
          </a:p>
          <a:p>
            <a:pPr marL="0" indent="0">
              <a:lnSpc>
                <a:spcPct val="200000"/>
              </a:lnSpc>
              <a:buNone/>
            </a:pPr>
            <a:endParaRPr lang="en-US" sz="1400" dirty="0"/>
          </a:p>
          <a:p>
            <a:pPr>
              <a:lnSpc>
                <a:spcPct val="200000"/>
              </a:lnSpc>
            </a:pPr>
            <a:endParaRPr lang="en-US" sz="1400" dirty="0"/>
          </a:p>
        </p:txBody>
      </p:sp>
      <p:sp>
        <p:nvSpPr>
          <p:cNvPr id="3" name="Title 1">
            <a:extLst>
              <a:ext uri="{FF2B5EF4-FFF2-40B4-BE49-F238E27FC236}">
                <a16:creationId xmlns:a16="http://schemas.microsoft.com/office/drawing/2014/main" id="{AB24A0EC-B957-947F-EA58-B58199C903B6}"/>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Running the Simulator</a:t>
            </a:r>
          </a:p>
        </p:txBody>
      </p:sp>
      <p:pic>
        <p:nvPicPr>
          <p:cNvPr id="5" name="Picture 4">
            <a:extLst>
              <a:ext uri="{FF2B5EF4-FFF2-40B4-BE49-F238E27FC236}">
                <a16:creationId xmlns:a16="http://schemas.microsoft.com/office/drawing/2014/main" id="{088CFC27-2453-A171-FF93-822358E9A8A5}"/>
              </a:ext>
            </a:extLst>
          </p:cNvPr>
          <p:cNvPicPr>
            <a:picLocks noChangeAspect="1"/>
          </p:cNvPicPr>
          <p:nvPr/>
        </p:nvPicPr>
        <p:blipFill>
          <a:blip r:embed="rId2"/>
          <a:stretch>
            <a:fillRect/>
          </a:stretch>
        </p:blipFill>
        <p:spPr>
          <a:xfrm>
            <a:off x="2776202" y="3162568"/>
            <a:ext cx="4810796" cy="276264"/>
          </a:xfrm>
          <a:prstGeom prst="rect">
            <a:avLst/>
          </a:prstGeom>
        </p:spPr>
      </p:pic>
    </p:spTree>
    <p:extLst>
      <p:ext uri="{BB962C8B-B14F-4D97-AF65-F5344CB8AC3E}">
        <p14:creationId xmlns:p14="http://schemas.microsoft.com/office/powerpoint/2010/main" val="258220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9C3B-F877-FCF5-D062-B76BAD7152CB}"/>
              </a:ext>
            </a:extLst>
          </p:cNvPr>
          <p:cNvSpPr>
            <a:spLocks noGrp="1"/>
          </p:cNvSpPr>
          <p:nvPr>
            <p:ph type="title"/>
          </p:nvPr>
        </p:nvSpPr>
        <p:spPr>
          <a:xfrm>
            <a:off x="1295400" y="2944794"/>
            <a:ext cx="9601200" cy="968411"/>
          </a:xfrm>
        </p:spPr>
        <p:txBody>
          <a:bodyPr>
            <a:normAutofit/>
          </a:bodyPr>
          <a:lstStyle/>
          <a:p>
            <a:pPr algn="ctr"/>
            <a:r>
              <a:rPr lang="en-US" sz="4800" dirty="0"/>
              <a:t>Thanks for your attention!</a:t>
            </a:r>
          </a:p>
        </p:txBody>
      </p:sp>
      <p:sp>
        <p:nvSpPr>
          <p:cNvPr id="3" name="Text Placeholder 2">
            <a:extLst>
              <a:ext uri="{FF2B5EF4-FFF2-40B4-BE49-F238E27FC236}">
                <a16:creationId xmlns:a16="http://schemas.microsoft.com/office/drawing/2014/main" id="{B4BB61C2-2B6E-E3CC-425D-E16802C5538B}"/>
              </a:ext>
            </a:extLst>
          </p:cNvPr>
          <p:cNvSpPr>
            <a:spLocks noGrp="1"/>
          </p:cNvSpPr>
          <p:nvPr>
            <p:ph type="body" idx="1"/>
          </p:nvPr>
        </p:nvSpPr>
        <p:spPr>
          <a:xfrm>
            <a:off x="1295400" y="5468795"/>
            <a:ext cx="9601200" cy="457200"/>
          </a:xfrm>
        </p:spPr>
        <p:txBody>
          <a:bodyPr/>
          <a:lstStyle/>
          <a:p>
            <a:r>
              <a:rPr lang="en-US" dirty="0"/>
              <a:t>Mohammad Hossein Mahrooghi – S7499834</a:t>
            </a:r>
          </a:p>
        </p:txBody>
      </p:sp>
      <p:pic>
        <p:nvPicPr>
          <p:cNvPr id="4" name="Picture 3">
            <a:extLst>
              <a:ext uri="{FF2B5EF4-FFF2-40B4-BE49-F238E27FC236}">
                <a16:creationId xmlns:a16="http://schemas.microsoft.com/office/drawing/2014/main" id="{D5E5444C-B70E-7466-59DA-0C62DA8E7599}"/>
              </a:ext>
            </a:extLst>
          </p:cNvPr>
          <p:cNvPicPr>
            <a:picLocks noChangeAspect="1"/>
          </p:cNvPicPr>
          <p:nvPr/>
        </p:nvPicPr>
        <p:blipFill>
          <a:blip r:embed="rId2"/>
          <a:stretch>
            <a:fillRect/>
          </a:stretch>
        </p:blipFill>
        <p:spPr>
          <a:xfrm>
            <a:off x="8820615" y="5394277"/>
            <a:ext cx="2075985" cy="531718"/>
          </a:xfrm>
          <a:prstGeom prst="rect">
            <a:avLst/>
          </a:prstGeom>
        </p:spPr>
      </p:pic>
    </p:spTree>
    <p:extLst>
      <p:ext uri="{BB962C8B-B14F-4D97-AF65-F5344CB8AC3E}">
        <p14:creationId xmlns:p14="http://schemas.microsoft.com/office/powerpoint/2010/main" val="2479835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410</TotalTime>
  <Words>1787</Words>
  <Application>Microsoft Office PowerPoint</Application>
  <PresentationFormat>Widescreen</PresentationFormat>
  <Paragraphs>115</Paragraphs>
  <Slides>20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Courier New</vt:lpstr>
      <vt:lpstr>Diamond Grid 16x9</vt:lpstr>
      <vt:lpstr>Assignment 2</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Hosein Mahrooghi</dc:creator>
  <cp:lastModifiedBy>Hosein Mahrooghi</cp:lastModifiedBy>
  <cp:revision>6</cp:revision>
  <dcterms:created xsi:type="dcterms:W3CDTF">2026-01-16T16:14:29Z</dcterms:created>
  <dcterms:modified xsi:type="dcterms:W3CDTF">2026-02-04T16:09:31Z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